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076136643" r:id="rId2"/>
    <p:sldId id="2076136468" r:id="rId3"/>
    <p:sldId id="2076136601" r:id="rId4"/>
    <p:sldId id="2076136602" r:id="rId5"/>
    <p:sldId id="2076136605" r:id="rId6"/>
    <p:sldId id="2076136604" r:id="rId7"/>
    <p:sldId id="2076136469" r:id="rId8"/>
    <p:sldId id="2076136646" r:id="rId9"/>
    <p:sldId id="2076136682" r:id="rId10"/>
    <p:sldId id="2076136625" r:id="rId11"/>
    <p:sldId id="2076136683" r:id="rId12"/>
    <p:sldId id="2076136645" r:id="rId13"/>
    <p:sldId id="2076136676" r:id="rId14"/>
    <p:sldId id="2076136656" r:id="rId15"/>
    <p:sldId id="2076136654" r:id="rId16"/>
    <p:sldId id="2076136675" r:id="rId17"/>
    <p:sldId id="2076136684" r:id="rId18"/>
    <p:sldId id="2076136663" r:id="rId19"/>
    <p:sldId id="2076136664" r:id="rId20"/>
    <p:sldId id="2076136665" r:id="rId21"/>
    <p:sldId id="2076136677" r:id="rId22"/>
    <p:sldId id="2076136659" r:id="rId23"/>
    <p:sldId id="2076136680" r:id="rId24"/>
    <p:sldId id="2076136672" r:id="rId25"/>
    <p:sldId id="2076136681" r:id="rId26"/>
    <p:sldId id="2076136632" r:id="rId27"/>
    <p:sldId id="2076136633" r:id="rId28"/>
    <p:sldId id="2076136634" r:id="rId29"/>
    <p:sldId id="2076136635" r:id="rId30"/>
    <p:sldId id="2076136636" r:id="rId31"/>
    <p:sldId id="2076136637" r:id="rId32"/>
    <p:sldId id="2076136673" r:id="rId33"/>
    <p:sldId id="2076136678" r:id="rId34"/>
    <p:sldId id="2076136686" r:id="rId35"/>
    <p:sldId id="2076136685" r:id="rId36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C94317-0DDF-5F08-C115-2646DBDC704D}" name="JESUALDO TOMAS FERNANDEZ BREIS" initials="JF" userId="S::jfernand@um.es::f3f5f80b-f594-499d-889b-f03492c27572" providerId="AD"/>
  <p188:author id="{3F320E7D-C643-C620-1B51-AD75C62C5C3C}" name="FRANCISCO ABAD NAVARRO" initials="FA" userId="S::francisco.abad@um.es::2055515b-7ace-4cfb-96ff-00f85e63f8e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1H>
    <a:band2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2H>
    <a:band1V>
      <a:tcStyle>
        <a:tcBdr/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lastRow>
    <a:firstRow>
      <a:tcTxStyle>
        <a:fontRef idx="minor">
          <a:scrgbClr r="0" g="0" b="0"/>
        </a:fontRef>
        <a:schemeClr val="accent2"/>
      </a:tcTxStyle>
      <a:tcStyle>
        <a:tcBdr>
          <a:top>
            <a:ln w="0" cmpd="sng">
              <a:solidFill>
                <a:schemeClr val="accent2"/>
              </a:solidFill>
            </a:ln>
          </a:top>
          <a:bottom>
            <a:ln w="252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087" autoAdjust="0"/>
    <p:restoredTop sz="95761" autoAdjust="0"/>
  </p:normalViewPr>
  <p:slideViewPr>
    <p:cSldViewPr snapToGrid="0">
      <p:cViewPr varScale="1">
        <p:scale>
          <a:sx n="181" d="100"/>
          <a:sy n="181" d="100"/>
        </p:scale>
        <p:origin x="1856" y="184"/>
      </p:cViewPr>
      <p:guideLst/>
    </p:cSldViewPr>
  </p:slideViewPr>
  <p:outlineViewPr>
    <p:cViewPr>
      <p:scale>
        <a:sx n="33" d="100"/>
        <a:sy n="33" d="100"/>
      </p:scale>
      <p:origin x="0" y="-1077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21732"/>
    </p:cViewPr>
  </p:sorterViewPr>
  <p:notesViewPr>
    <p:cSldViewPr snapToGrid="0" showGuides="1">
      <p:cViewPr varScale="1">
        <p:scale>
          <a:sx n="109" d="100"/>
          <a:sy n="109" d="100"/>
        </p:scale>
        <p:origin x="51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b="1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975238A-E77C-4161-8153-559CAAFF08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63C429-307D-46CA-9A12-06D8698F75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2EF3F-42B8-4B9D-A37E-11A4D443AA0D}" type="datetimeFigureOut">
              <a:rPr lang="en-US" sz="1050" smtClean="0"/>
              <a:t>2/25/26</a:t>
            </a:fld>
            <a:endParaRPr lang="en-US" sz="105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65EB52-C1D0-4343-AE68-5103D2F419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6198C1-5F95-4924-98B6-9E9A0B40AE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 dirty="0"/>
              <a:t>Handout</a:t>
            </a:r>
            <a:r>
              <a:rPr lang="en-US" sz="1050" dirty="0"/>
              <a:t> </a:t>
            </a:r>
            <a:fld id="{FE9D864B-9634-41E7-BDAB-3BBEEED548E4}" type="slidenum">
              <a:rPr lang="en-US" sz="1050" smtClean="0"/>
              <a:t>‹Nº›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536000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000"/>
            </a:lvl1pPr>
          </a:lstStyle>
          <a:p>
            <a:fld id="{B121E240-E9EA-40DE-8EFF-BE00DCAC0262}" type="datetimeFigureOut">
              <a:rPr lang="en-US" noProof="0" smtClean="0"/>
              <a:pPr/>
              <a:t>2/25/26</a:t>
            </a:fld>
            <a:endParaRPr lang="en-US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9394" y="4925407"/>
            <a:ext cx="6145276" cy="402987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noProof="0"/>
              <a:t>Formatvorlagen des Textmasters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000"/>
            </a:lvl1pPr>
          </a:lstStyle>
          <a:p>
            <a:r>
              <a:rPr lang="en-US" b="1" noProof="0" dirty="0"/>
              <a:t>Notice </a:t>
            </a:r>
            <a:fld id="{84EE17C3-51E0-4A9C-B3A8-E6548E6A9E95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1476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833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843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D006-3F15-1F9C-6FB2-33A97FDA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2CC949-94B5-A6EA-280B-13FBD3DD3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F8C6B3-97CC-181E-DBB8-9B59E33DB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675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D862-F632-9CF9-D8F8-8CA48D371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70C10-CC19-FD2B-4D31-131D36D39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9DBF95-FA17-403F-CF64-02062B482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37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CD17-8D2A-3577-3602-42EF470D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3DE2E75-4212-682B-7929-EECAC4739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F3F6B17-F79C-B03A-B134-955E32E3C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292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2DB2-2DE2-4D5A-98B0-D2E26808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F31837-AD46-BEEF-8B9A-6026C1D7B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350C2A-B1CE-1D32-EF18-4E5CD89AC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512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1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602F-128A-E5B4-6D20-35D4331A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74DCB0-085A-8D71-12CD-FB749BC61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D34875-C127-D2E9-29E5-8F7F625F2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405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E8F-05A7-E215-149D-2FFABF0E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05D2ABA-CFDB-AF7A-17C2-1A298636F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56DF61-A994-936A-32F4-C4E804EE7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184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95F05-2FC5-300A-E716-36694B5DE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C091-EB89-55F2-D2BA-73E31FD43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26963-B6E0-27C7-0483-50F978A7C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87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21A0D-1E11-A9EB-8BED-2B0C7F2F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F4A33-865D-D1C6-2AF4-AD9065FC9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9A727-9BA9-3013-0828-D42CE57BF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063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2C2C-C715-C7F0-2009-92432B61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1802-2671-B235-1ECE-7AFB9D873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CDBF7-B30C-CDEF-C79D-1E18FA03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060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67B4A-A854-333C-B2E0-D1481C71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088AE-9B16-D007-66B6-1A42564F2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64DB-481B-A998-E343-BB59AA3F3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49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FEDC-83AD-351A-864C-388D2743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17FED-7257-0FC1-F73D-6634540BF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07A1C-4B74-C440-3BA1-F2D54AB95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44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25FF-A04E-F112-F1D1-D00E84C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1CF90-0F86-25D2-C91C-E99F37042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9077E-247F-9C23-A51C-8DBA92D95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45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457-665A-B431-59D3-B52A7450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CB5B-27B8-6358-91E9-771AD89FE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3E181-9FF7-1B55-5A86-5CDB0C425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62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6F0A-09E7-F107-D4AA-E3EF09CB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9380B-6BCA-AA18-2DCB-609E9F47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37E62-613D-1FE2-7878-06D337397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0574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1296E-3452-7159-EA41-CE30FE3A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EC8D-AD1B-8C25-D116-F6CE553E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75E62-0E66-3D3E-D5B5-A96B95C7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466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2007-414B-4617-6EBE-5B9FE3D77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44B8B-7D04-FD70-E7EE-D2EE1846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2EE06-7A3D-6E10-5484-C6CC75714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0785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8D765-E697-34E1-2DEF-76874B3A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97DE3-F25B-1290-71C7-552C4D4B7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5A006-33BF-926F-7431-DDF1CBDD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56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3E9-5BEF-4746-4671-F7926224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5FCC6-2BEF-57A6-3430-6FC0C0613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6AB68-F065-D3C0-A011-0BAB4080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8446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BC1DA-B639-DE03-123C-4A6C4BCAB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71059-E1EE-9049-2E48-C68090353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F7FFD-7B1A-0991-F7AA-4EE060EC3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0120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45BB-116B-3BF7-47CB-4588592D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91415-700B-0A24-E056-4C3891B6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6ABE1-F998-21F4-F9C6-C2A8CBAE6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9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44FE-018F-D1C6-333E-431DAE29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05D85-0E7F-AF0A-D2E8-E850DCAA5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24A0F-DE5C-19AC-ECF4-8EAA38BED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705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930-4461-29F4-3858-3D4925F8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45BD20-87FA-EB4D-C4BA-4370B0115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012DD-560B-F129-8372-FFA9C5429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271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2230-7B93-31BE-694A-D333ED85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33DD0-D8C6-E056-BE12-917C4461B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E44D3-ECBC-8289-C389-CE0BEACB9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397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E775-6163-2C61-F22F-756336E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C4BE8-DBD3-9BE7-2639-FE80C506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0FB85-49F1-E272-0BB1-81841850C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8618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8702-9A02-F3BA-9F35-3B1A59B3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AD3F7-50CD-7912-8A55-5DE9A9F72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D35C-573F-1DE1-1319-D24BC244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8530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362D-A5BF-BDAA-0184-A043B240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9EE34-8331-3FD4-E81F-159FAB5F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5CD6C-FFE0-7FA3-73FE-C60E015F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379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4D5B-6E9C-AA0F-749F-C87D190F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EEF4-79E5-EF83-2358-6EB45A32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5AD4-D18E-AE85-A5E5-00F06E9C4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1204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81EB-626C-B5C5-88A1-64B1134A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5EB6C-A282-7958-C82A-0A727E974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A5996-54D4-85B5-85F1-7E065A80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3687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6C847-D031-CE4F-8C7B-B7762FB2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0140-AE0D-DF9F-EF9D-56F9288D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7D7BC-71EF-AF0C-0887-5A6F7CA60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296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BB7F-2FA8-5D88-352C-4494897B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397EB-872F-0F7A-3656-F6AFA9CA0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22EF-36D9-D9EE-50FA-72E02E52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2898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38CC1-AD18-20A8-78EF-FD5405440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85DD5B-D084-8F21-F6A6-40470B8C1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40699-ABB2-340D-DA71-9A6B730E7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7846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233F6-97A8-1415-9314-E0160E37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2782F0-F30D-F84A-3D20-66DB50BD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7F26BF8-3705-6E54-CDBE-4CFC1527B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59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color fil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627064" y="4528800"/>
            <a:ext cx="8207374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</a:t>
            </a:r>
            <a:fld id="{FA55B69A-C81D-4450-9F46-4A8AAD724BD7}" type="datetimeyyyy">
              <a:rPr lang="en-US" smtClean="0"/>
              <a:t>2022</a:t>
            </a:fld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0BFF75D-E167-4A8F-8F4D-52E75296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Ins="482400"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License statement">
            <a:extLst>
              <a:ext uri="{FF2B5EF4-FFF2-40B4-BE49-F238E27FC236}">
                <a16:creationId xmlns:a16="http://schemas.microsoft.com/office/drawing/2014/main" id="{C0045C3A-1F21-44D0-8D93-8AC33A04C18C}"/>
              </a:ext>
            </a:extLst>
          </p:cNvPr>
          <p:cNvSpPr txBox="1"/>
          <p:nvPr userDrawn="1"/>
        </p:nvSpPr>
        <p:spPr>
          <a:xfrm>
            <a:off x="627063" y="6526800"/>
            <a:ext cx="5468936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F7B15AB2-8F54-442E-99E5-20BEAD71AF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25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Chapter divider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7064" y="4528800"/>
            <a:ext cx="8208000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2020</a:t>
            </a:r>
          </a:p>
        </p:txBody>
      </p:sp>
      <p:sp>
        <p:nvSpPr>
          <p:cNvPr id="7" name="License statement">
            <a:extLst>
              <a:ext uri="{FF2B5EF4-FFF2-40B4-BE49-F238E27FC236}">
                <a16:creationId xmlns:a16="http://schemas.microsoft.com/office/drawing/2014/main" id="{D0DCD031-C87D-4337-8B6F-81915A0662B8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4774ED4C-2CE3-4F97-9292-1D483D04AB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  <p:sp>
        <p:nvSpPr>
          <p:cNvPr id="9" name="Date">
            <a:extLst>
              <a:ext uri="{FF2B5EF4-FFF2-40B4-BE49-F238E27FC236}">
                <a16:creationId xmlns:a16="http://schemas.microsoft.com/office/drawing/2014/main" id="{02F576C2-5736-47C9-A523-3508918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AF96D2D8-40D0-45A6-B369-AE3FA38E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6172687-BB82-40EA-8381-3219890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235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41ED7A8-59A7-4A1B-85AB-660A43EF3A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Table"/>
          <p:cNvSpPr>
            <a:spLocks noGrp="1"/>
          </p:cNvSpPr>
          <p:nvPr>
            <p:ph type="tbl" sz="quarter" idx="10" hasCustomPrompt="1"/>
          </p:nvPr>
        </p:nvSpPr>
        <p:spPr>
          <a:xfrm>
            <a:off x="627062" y="1522800"/>
            <a:ext cx="8208000" cy="464457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05D9AD02-F2A5-4B6B-9801-AB8446AD13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E3B1BBC-6FDD-40A2-B8A7-A0CE458D5C7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EBE12D5-0EE0-49EE-9AAC-99012B68D65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4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310531E-0CC7-4528-B1E6-9F819FD0E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Chapter 1">
            <a:extLst>
              <a:ext uri="{FF2B5EF4-FFF2-40B4-BE49-F238E27FC236}">
                <a16:creationId xmlns:a16="http://schemas.microsoft.com/office/drawing/2014/main" id="{3EF4C540-3305-446C-B3A6-5230FE8E1E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4" name="Chapter 2">
            <a:extLst>
              <a:ext uri="{FF2B5EF4-FFF2-40B4-BE49-F238E27FC236}">
                <a16:creationId xmlns:a16="http://schemas.microsoft.com/office/drawing/2014/main" id="{F65B1E50-0024-482D-BD5A-7064672F6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30732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5" name="Chapter 3">
            <a:extLst>
              <a:ext uri="{FF2B5EF4-FFF2-40B4-BE49-F238E27FC236}">
                <a16:creationId xmlns:a16="http://schemas.microsoft.com/office/drawing/2014/main" id="{8AC85E50-79A3-4CC2-85A0-1E361742F5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34400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6" name="Chapter 4">
            <a:extLst>
              <a:ext uri="{FF2B5EF4-FFF2-40B4-BE49-F238E27FC236}">
                <a16:creationId xmlns:a16="http://schemas.microsoft.com/office/drawing/2014/main" id="{6AEF1AD1-4DDB-4DBA-8C94-A0DA12F1A0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63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7" name="Chapter 5">
            <a:extLst>
              <a:ext uri="{FF2B5EF4-FFF2-40B4-BE49-F238E27FC236}">
                <a16:creationId xmlns:a16="http://schemas.microsoft.com/office/drawing/2014/main" id="{018C79BC-8598-41F5-B6E1-0DB86A5FC9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30732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8" name="Chapter 6">
            <a:extLst>
              <a:ext uri="{FF2B5EF4-FFF2-40B4-BE49-F238E27FC236}">
                <a16:creationId xmlns:a16="http://schemas.microsoft.com/office/drawing/2014/main" id="{92BB5C0A-7CAC-4620-92E5-253BEFF2D6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34400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6A5D931A-87EE-408E-B2A3-FD7B7C6070F3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B3BD2DF-8D30-46C8-9FE7-ED978C91143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7AC3B7-3986-4C69-9332-614AC3C9741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90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0A4C4D-EAF6-4487-9B40-402A1831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6423D4E-37B3-465D-B8AB-963908D7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95EFF28-920F-4123-9A1D-AC0C8710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4C38ED2-4959-4663-AD0B-454C9B49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12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A44E71F-B859-4008-8A5B-83A328EBFCDD}"/>
              </a:ext>
            </a:extLst>
          </p:cNvPr>
          <p:cNvSpPr/>
          <p:nvPr userDrawn="1"/>
        </p:nvSpPr>
        <p:spPr bwMode="ltGray">
          <a:xfrm>
            <a:off x="0" y="1414800"/>
            <a:ext cx="12191999" cy="4752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D8BA2A0-402B-4423-B445-CE1431A1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E8363801-B1CB-4180-97D2-8D68C505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306F7E6-F1EC-40EA-A37E-72B236F2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26FBB2-B0F3-410E-B84E-0F9162F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1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ckground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1999" cy="4752975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7ACECF9-920E-4760-B49D-8F292064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88AC905-B409-4246-9393-5C84F7C238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5120A33-1DEB-443A-BAEE-D5F8502F4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20893F1-71B6-4467-B610-C984E52659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63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ngle large image 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2000" cy="5443199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694A34-C7CA-48AB-8D23-B8EABFB0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14280F5-6A9D-4DFD-980C-9B97D6F4A07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3AA84DB-39EF-4A65-AB5F-3953F53DA6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7EAA400-B447-409F-83CA-388B065494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96FC1D-DB7A-4E51-83A7-D7995F9E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F4D466CD-6377-49FA-AD25-05B4AA7D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ED6595D-05AD-49F6-A5F9-ECCC081A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329F9B4-DB87-42EB-B543-F4F171DE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8B06B150-A340-4F73-9FE5-4507B59B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202DEF8-718C-4287-9D9D-B4C30F80B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7D02A0-AB3F-4119-819A-41369D15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9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E3EA041-C63B-4A42-ABDE-DF11802A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3AA83A9-9350-46B4-97AA-06419238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4CAC2FD-0518-4E03-9837-AD02CF98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License statement">
            <a:extLst>
              <a:ext uri="{FF2B5EF4-FFF2-40B4-BE49-F238E27FC236}">
                <a16:creationId xmlns:a16="http://schemas.microsoft.com/office/drawing/2014/main" id="{8A8BFD76-D6D8-4CF7-9953-B1C9C522963C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4DD39686-C426-4B02-B953-AC0AC4016A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69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3AF9F3-C036-494E-93A9-EEB85375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112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48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B07A695-5717-44CA-9F83-55036C6561E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C230EC-278F-446C-9170-18A458D712F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5176A5-A5F4-4F2F-8A6D-59AC594B45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52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,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F8B4D2-6F05-469C-8BE4-52BAC6D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mage 1">
            <a:extLst>
              <a:ext uri="{FF2B5EF4-FFF2-40B4-BE49-F238E27FC236}">
                <a16:creationId xmlns:a16="http://schemas.microsoft.com/office/drawing/2014/main" id="{1F47DA09-C1B9-4F79-811C-47680DD13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42049" y="1414800"/>
            <a:ext cx="5472000" cy="2305049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Image 2">
            <a:extLst>
              <a:ext uri="{FF2B5EF4-FFF2-40B4-BE49-F238E27FC236}">
                <a16:creationId xmlns:a16="http://schemas.microsoft.com/office/drawing/2014/main" id="{B62DCAC0-0A0A-4FD1-9E6A-DFB48F5EAA1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2049" y="3862725"/>
            <a:ext cx="5472000" cy="2305050"/>
          </a:xfrm>
        </p:spPr>
        <p:txBody>
          <a:bodyPr lIns="144000" tIns="144000" rIns="144000" bIns="144000" anchor="b" anchorCtr="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E543721-8831-48CC-B606-5925CAE98B5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2ACE9A3-D4AE-49E4-8C10-4112461BA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148B46F9-F8BF-4ABE-9FA4-DCA7A617D47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31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ECFA6D-1332-4048-BA8C-6F8F3DE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-1" y="1414800"/>
            <a:ext cx="8834437" cy="2305050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" y="3862800"/>
            <a:ext cx="8834437" cy="2305049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E8F4E1-E9EC-4939-AE23-647A6FB041D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798382-165E-461B-8B86-28535E2D9F5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3691E0C-BB60-4E26-824A-C288BC751E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5655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4DED40-DA39-4014-8DEE-94AA5379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0A90FE7-4B89-4E13-9D98-27BA1B1E920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2045F045-C538-4895-BDB6-C8829DD425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94A82F2-37F7-4998-BC2F-836230F2AD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484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041062-6E58-45A3-B6A1-92507B3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Image 1">
            <a:extLst>
              <a:ext uri="{FF2B5EF4-FFF2-40B4-BE49-F238E27FC236}">
                <a16:creationId xmlns:a16="http://schemas.microsoft.com/office/drawing/2014/main" id="{D7FB36E4-9D48-40F9-8766-C9A9EB70724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06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Image 2">
            <a:extLst>
              <a:ext uri="{FF2B5EF4-FFF2-40B4-BE49-F238E27FC236}">
                <a16:creationId xmlns:a16="http://schemas.microsoft.com/office/drawing/2014/main" id="{DB7AA95A-85B0-4FB5-A5A1-EA4243663C9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7061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Image 3">
            <a:extLst>
              <a:ext uri="{FF2B5EF4-FFF2-40B4-BE49-F238E27FC236}">
                <a16:creationId xmlns:a16="http://schemas.microsoft.com/office/drawing/2014/main" id="{5530F297-3088-4E70-982A-604343177BD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4163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DE3108B-A216-4DA7-9338-AAF1A8EB57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C4B32CDA-0795-4097-91E9-EDAB88EEFAE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B8DB116-37AD-4364-A2CB-827090D33A8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4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AC4C64-3556-4D13-9B77-531CC35C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50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7063" y="3862388"/>
            <a:ext cx="5472112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py 4">
            <a:extLst>
              <a:ext uri="{FF2B5EF4-FFF2-40B4-BE49-F238E27FC236}">
                <a16:creationId xmlns:a16="http://schemas.microsoft.com/office/drawing/2014/main" id="{5ABA1728-CE60-4862-A32A-3E1550DB81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42050" y="3862388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A3742653-AE37-47FB-AE49-976C52333A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A347A68C-4EF6-44A9-BE5F-AE478829AB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5B74C08-E41F-493C-8EBA-332C20964B6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334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54322-9D76-4652-BA00-A16E0E8BC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546893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868800" y="1702800"/>
            <a:ext cx="4845363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C008F2F6-C7B9-474D-A835-70B414DBF246}"/>
              </a:ext>
            </a:extLst>
          </p:cNvPr>
          <p:cNvCxnSpPr>
            <a:cxnSpLocks/>
          </p:cNvCxnSpPr>
          <p:nvPr userDrawn="1"/>
        </p:nvCxnSpPr>
        <p:spPr>
          <a:xfrm>
            <a:off x="624205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53BB17B-DF78-41BF-B949-AD447D2EBD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36592C8F-6ACB-4C3B-8C80-CD9DBF9199B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EFF82A80-BB50-424E-8C86-F53C1198EF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1917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326">
          <p15:clr>
            <a:srgbClr val="009999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3C362A-A909-40CB-9FA2-3D717800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48384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24799" y="1702800"/>
            <a:ext cx="4989364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945534F-26F4-40FC-A374-867BAF248298}"/>
              </a:ext>
            </a:extLst>
          </p:cNvPr>
          <p:cNvCxnSpPr>
            <a:cxnSpLocks/>
          </p:cNvCxnSpPr>
          <p:nvPr userDrawn="1"/>
        </p:nvCxnSpPr>
        <p:spPr>
          <a:xfrm>
            <a:off x="6098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9DE58CD-DCA3-4372-9499-BC2AF624E0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064354F4-44F9-4FE8-B80B-3808052C4E5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07A022-5FF0-4A57-A4DC-D65A2617A45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9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4235">
          <p15:clr>
            <a:srgbClr val="009999"/>
          </p15:clr>
        </p15:guide>
        <p15:guide id="4" pos="3445">
          <p15:clr>
            <a:srgbClr val="009999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DA0C482-E794-471B-86E8-8B4BC6F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88" y="1702800"/>
            <a:ext cx="686117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62319831-E8B2-4E7D-830F-1800765CACA7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0F282734-C06A-4363-B29D-65D58B4A65E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C4C5FDB2-CAED-45FA-B6FE-998F171B85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Restricted © Siemens Energy, 2022 | Author, Department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137C71-A93E-4F9A-9E08-B4D2EEF99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60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2482">
          <p15:clr>
            <a:srgbClr val="009999"/>
          </p15:clr>
        </p15:guide>
        <p15:guide id="3" pos="3057">
          <p15:clr>
            <a:srgbClr val="009999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06C2C1-E8E5-4190-B0E4-8D8FC817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90" y="1702800"/>
            <a:ext cx="6861174" cy="4464050"/>
          </a:xfrm>
        </p:spPr>
        <p:txBody>
          <a:bodyPr lIns="0"/>
          <a:lstStyle>
            <a:lvl1pP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ECB370A-6892-4FEB-B009-0E06387B008F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F21D61BE-E8F1-4FD1-86A8-C3268A98118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dirty="0"/>
              <a:t>YYYY-MM-DD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7D4F777-418F-44E1-8D5E-EDA9FD6F498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81C37E-C43A-46E8-A071-6789FEE400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86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481">
          <p15:clr>
            <a:srgbClr val="009999"/>
          </p15:clr>
        </p15:guide>
        <p15:guide id="3" pos="3058">
          <p15:clr>
            <a:srgbClr val="009999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10D7BC-E7EC-4502-9248-89CD9CF4C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py 1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7060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py 2">
            <a:extLst>
              <a:ext uri="{FF2B5EF4-FFF2-40B4-BE49-F238E27FC236}">
                <a16:creationId xmlns:a16="http://schemas.microsoft.com/office/drawing/2014/main" id="{99496BBF-8C93-419A-9711-E1A45A39C74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2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Copy 3">
            <a:extLst>
              <a:ext uri="{FF2B5EF4-FFF2-40B4-BE49-F238E27FC236}">
                <a16:creationId xmlns:a16="http://schemas.microsoft.com/office/drawing/2014/main" id="{F4602EF6-A996-4008-A6E7-BC21522010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1" name="Line 1">
            <a:extLst>
              <a:ext uri="{FF2B5EF4-FFF2-40B4-BE49-F238E27FC236}">
                <a16:creationId xmlns:a16="http://schemas.microsoft.com/office/drawing/2014/main" id="{2A6E1C9E-FC21-4A3C-94E2-3CF0ABD4DC8A}"/>
              </a:ext>
            </a:extLst>
          </p:cNvPr>
          <p:cNvCxnSpPr>
            <a:cxnSpLocks/>
          </p:cNvCxnSpPr>
          <p:nvPr userDrawn="1"/>
        </p:nvCxnSpPr>
        <p:spPr>
          <a:xfrm>
            <a:off x="-1" y="1414800"/>
            <a:ext cx="12178800" cy="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39B648A0-2A0F-4E52-8DBE-439A71B60E1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9AE5312-F0DD-4FCE-B083-EE30A7DD42B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B9410E7-6BBD-4FA4-BFF2-00F97C78C4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922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022">
          <p15:clr>
            <a:srgbClr val="009999"/>
          </p15:clr>
        </p15:guide>
        <p15:guide id="2" pos="5112">
          <p15:clr>
            <a:srgbClr val="009999"/>
          </p15:clr>
        </p15:guide>
        <p15:guide id="4" pos="2753">
          <p15:clr>
            <a:srgbClr val="009999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8A3D2-4732-49AB-8FCF-B07043C386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8207375" cy="4752974"/>
          </a:xfrm>
        </p:spPr>
        <p:txBody>
          <a:bodyPr lIns="0"/>
          <a:lstStyle>
            <a:lvl1pPr>
              <a:spcBef>
                <a:spcPts val="600"/>
              </a:spcBef>
              <a:defRPr baseline="0"/>
            </a:lvl1pPr>
            <a:lvl2pPr marL="0" indent="0">
              <a:spcBef>
                <a:spcPts val="600"/>
              </a:spcBef>
              <a:buNone/>
              <a:defRPr b="1"/>
            </a:lvl2pPr>
            <a:lvl3pPr marL="180000" indent="-180000">
              <a:spcBef>
                <a:spcPts val="6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0" indent="0">
              <a:spcBef>
                <a:spcPts val="1800"/>
              </a:spcBef>
              <a:buNone/>
              <a:defRPr b="1">
                <a:solidFill>
                  <a:schemeClr val="accent2"/>
                </a:solidFill>
              </a:defRPr>
            </a:lvl4pPr>
            <a:lvl5pPr marL="216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Contact information</a:t>
            </a:r>
          </a:p>
          <a:p>
            <a:pPr lvl="1"/>
            <a:r>
              <a:rPr lang="en-US" noProof="0" dirty="0"/>
              <a:t>First name Last name</a:t>
            </a:r>
          </a:p>
          <a:p>
            <a:pPr lvl="2"/>
            <a:r>
              <a:rPr lang="en-US" noProof="0" dirty="0"/>
              <a:t>Additional information</a:t>
            </a:r>
          </a:p>
          <a:p>
            <a:pPr lvl="3"/>
            <a:r>
              <a:rPr lang="en-US" noProof="0" dirty="0"/>
              <a:t>Optional URL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33D85C8-CF20-4055-AD3E-8D3224AA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6FC7EFC1-F0D1-455A-A591-F44D66A9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B527726-0AFE-4617-8E41-6490A9E4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0" name="License statement">
            <a:extLst>
              <a:ext uri="{FF2B5EF4-FFF2-40B4-BE49-F238E27FC236}">
                <a16:creationId xmlns:a16="http://schemas.microsoft.com/office/drawing/2014/main" id="{7A9560F1-3DB3-46C0-AE0C-BFB3B1558722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8D4FB85B-6B00-4CB9-9A3F-0DA4223A5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95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89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6C5D22-2D05-436C-B3FF-684C0326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9659938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3E46A9A-BF3F-41A6-ABFA-1F80C067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063" y="1414800"/>
            <a:ext cx="8207375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74C7C42-A3A4-4EF5-8F4C-CED56F9A8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26800"/>
            <a:ext cx="1692000" cy="331200"/>
          </a:xfrm>
          <a:prstGeom prst="rect">
            <a:avLst/>
          </a:prstGeom>
        </p:spPr>
        <p:txBody>
          <a:bodyPr vert="horz" lIns="626400" tIns="0" rIns="0" bIns="0" rtlCol="0" anchor="t" anchorCtr="0"/>
          <a:lstStyle>
            <a:lvl1pPr algn="l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9BA3395-C3C4-4AD9-BBE4-84EAEC106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41200" y="6526800"/>
            <a:ext cx="5950800" cy="331200"/>
          </a:xfrm>
          <a:prstGeom prst="rect">
            <a:avLst/>
          </a:prstGeom>
        </p:spPr>
        <p:txBody>
          <a:bodyPr vert="horz" lIns="0" tIns="0" rIns="835200" bIns="0" rtlCol="0" anchor="t" anchorCtr="0"/>
          <a:lstStyle>
            <a:lvl1pPr algn="r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30CDD11-BF0E-4D45-9874-3249EA232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4000" y="6526800"/>
            <a:ext cx="828000" cy="331200"/>
          </a:xfrm>
          <a:prstGeom prst="rect">
            <a:avLst/>
          </a:prstGeom>
        </p:spPr>
        <p:txBody>
          <a:bodyPr vert="horz" lIns="0" tIns="0" rIns="482400" bIns="0" rtlCol="0" anchor="t" anchorCtr="0"/>
          <a:lstStyle>
            <a:lvl1pPr algn="r">
              <a:defRPr lang="en-US" sz="10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7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662" r:id="rId2"/>
    <p:sldLayoutId id="2147483664" r:id="rId3"/>
    <p:sldLayoutId id="2147483683" r:id="rId4"/>
    <p:sldLayoutId id="2147483665" r:id="rId5"/>
    <p:sldLayoutId id="2147483666" r:id="rId6"/>
    <p:sldLayoutId id="2147483667" r:id="rId7"/>
    <p:sldLayoutId id="2147483668" r:id="rId8"/>
    <p:sldLayoutId id="2147483650" r:id="rId9"/>
    <p:sldLayoutId id="2147483671" r:id="rId10"/>
    <p:sldLayoutId id="2147483700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8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679" r:id="rId23"/>
    <p:sldLayoutId id="2147483709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None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009999"/>
          </p15:clr>
        </p15:guide>
        <p15:guide id="2" pos="2662">
          <p15:clr>
            <a:srgbClr val="009999"/>
          </p15:clr>
        </p15:guide>
        <p15:guide id="3" pos="3842">
          <p15:clr>
            <a:srgbClr val="009999"/>
          </p15:clr>
        </p15:guide>
        <p15:guide id="4" pos="3932">
          <p15:clr>
            <a:srgbClr val="009999"/>
          </p15:clr>
        </p15:guide>
        <p15:guide id="5" pos="5565">
          <p15:clr>
            <a:srgbClr val="009999"/>
          </p15:clr>
        </p15:guide>
        <p15:guide id="6" pos="6087">
          <p15:clr>
            <a:srgbClr val="009999"/>
          </p15:clr>
        </p15:guide>
        <p15:guide id="7" pos="7379">
          <p15:clr>
            <a:srgbClr val="009999"/>
          </p15:clr>
        </p15:guide>
        <p15:guide id="9" orient="horz" pos="891">
          <p15:clr>
            <a:srgbClr val="009999"/>
          </p15:clr>
        </p15:guide>
        <p15:guide id="10" orient="horz" pos="1073">
          <p15:clr>
            <a:srgbClr val="009999"/>
          </p15:clr>
        </p15:guide>
        <p15:guide id="11" orient="horz" pos="2343">
          <p15:clr>
            <a:srgbClr val="009999"/>
          </p15:clr>
        </p15:guide>
        <p15:guide id="12" orient="horz" pos="2433">
          <p15:clr>
            <a:srgbClr val="009999"/>
          </p15:clr>
        </p15:guide>
        <p15:guide id="13" orient="horz" pos="3703">
          <p15:clr>
            <a:srgbClr val="009999"/>
          </p15:clr>
        </p15:guide>
        <p15:guide id="14" orient="horz" pos="3885">
          <p15:clr>
            <a:srgbClr val="00999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0BE50-B693-E766-F91A-A7FB04CD6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186C999-CB86-57A1-1CDD-380ED1AF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 Castro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1F9BF8DF-77E4-E1FB-5779-2955619C3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034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C7BB-3D0C-7EA9-2119-D87E65DC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Industry 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AFDD94C-939E-8319-4E17-E8BA51183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9370074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6765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5342F-89D3-E8A6-4591-92244BCA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9E8-16B3-81AE-3550-CDBF5C75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</a:t>
            </a:r>
            <a:r>
              <a:rPr lang="en-US" sz="3200" dirty="0"/>
              <a:t>Industry </a:t>
            </a:r>
            <a:r>
              <a:rPr lang="en-US" sz="3200" b="1" dirty="0"/>
              <a:t>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5520073D-47B7-EC26-C571-EE246222B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7317168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2631C1D-CF23-36F0-8915-32A9CD982DE2}"/>
              </a:ext>
            </a:extLst>
          </p:cNvPr>
          <p:cNvSpPr/>
          <p:nvPr/>
        </p:nvSpPr>
        <p:spPr>
          <a:xfrm>
            <a:off x="3974591" y="1938528"/>
            <a:ext cx="4201301" cy="2718816"/>
          </a:xfrm>
          <a:prstGeom prst="rect">
            <a:avLst/>
          </a:pr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0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2DDA2-A6A5-E225-4A46-88365BE0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39B6A-6711-6638-9B4D-BE925EAD4404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359A55A8-3F4B-D698-FED7-AF7054108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CE967C9B-FB35-25B6-9376-9CAABA503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416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1E13-23D3-282F-62FC-948BBC137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72F760F-B5BE-C12A-241C-459A315D9CC6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9937A6C-0AEC-61D4-FC7C-34D1328E3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299D942D-C213-E91B-613D-EBA22C9BD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B22B0B26-BCCA-BB24-37A8-28048F25C0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9953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DF424-1EBB-2DA7-157B-239F7A6EE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A1D7BB-F622-3862-902D-EDC12C6B3E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54F348B-4866-BF9C-D4AA-96F421E7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5AD14D02-6F8B-7618-3212-F8BA2634D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C5D9994-25B2-859A-2844-DDDFECF8589A}"/>
              </a:ext>
            </a:extLst>
          </p:cNvPr>
          <p:cNvSpPr txBox="1"/>
          <p:nvPr/>
        </p:nvSpPr>
        <p:spPr>
          <a:xfrm>
            <a:off x="0" y="1528255"/>
            <a:ext cx="334391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Different SE departments and customers use different standards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data interoperability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b="1" dirty="0"/>
          </a:p>
          <a:p>
            <a:endParaRPr lang="en-US" sz="2800" b="1" dirty="0"/>
          </a:p>
        </p:txBody>
      </p:sp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28A8263C-348E-6F39-767E-6A3024380A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17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F93DC6-9701-0713-BDC3-690A78176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831068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BCF4F00-7CD7-A18C-3624-5B0E4B3A2F29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DA1D7E9-E60C-59DF-52AD-0ACB8AEF9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27A7EAFE-E616-2B18-1D13-DBF6E7848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15AFA65-6ACF-655A-AC28-4DDF95F5C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9C67510-869A-0C1F-B1AF-180A55FD9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8A13208-2136-29CF-3F7D-D218F05A6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D68E5660-8165-F109-805E-570DE1D87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995A942-2BEE-2796-01F7-8CF769239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7E3C0276-005F-48A8-A5FE-96A9DA549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CA831BAF-005D-E965-DDB2-105BCAABD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CB76D3BD-41F9-199A-A400-605367136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0D011CEC-014A-1531-149F-E28BB9AA8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A9194044-DADC-D670-65DB-1897541A8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E716ADF-0133-60E4-C507-B67FDA9D3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20BE927-A348-21A2-E752-DA09F80A5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A2997E8F-CF0A-4B88-B530-0B8D8C957C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390CE2CF-F730-4544-909E-DE8E33659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CE02D86-121A-5D01-4ADE-600F571A20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B263AC6-86D1-1DE3-B69C-29A8784FA9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D3917A28-8369-242C-5704-4BB8AAB4DC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B17B4F22-3248-A66A-61F1-03DB29DD9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7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6C56-24FB-F9F7-C999-48964502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4">
            <a:extLst>
              <a:ext uri="{FF2B5EF4-FFF2-40B4-BE49-F238E27FC236}">
                <a16:creationId xmlns:a16="http://schemas.microsoft.com/office/drawing/2014/main" id="{F7329509-9865-10E2-479F-6C39130DEA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1999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/>
              <a:t>Towards a common language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F27EABF-E047-EC0B-D004-BC341F20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570" y="910708"/>
            <a:ext cx="9450754" cy="585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436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57EC-EACB-B56E-BA15-DEB2D8BB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EE607D3-84BD-9CD9-3E1A-93D7116572EA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AA289C0A-6C88-0568-23FE-C48789580C5E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BE841420-3BF4-A609-D99A-2CDF4B4C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F96C267F-4B1D-7E85-5E62-AA1338D5F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6D5A89C2-64B5-81D0-C68C-7F34ACD2C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C85BEC9-ED78-BDC7-DCD6-333191654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364DCC10-332D-4CC5-BB2F-79D11A74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2EA0D353-306D-EFB0-35EC-29E0C0CA4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D3E6B7E-907F-BB38-C096-82AA038A0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1A1EBCBD-7F12-FBDC-95CE-6B90DCCD3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5F95DF6E-E071-DEA1-F536-928F19190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2DE129DF-09ED-0920-C4EC-9737560C2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5E8D7666-0018-CBFA-0D1A-BEF96D402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DCBD91D6-81F6-E214-310F-8AD92F64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43593ADE-83A0-55DA-40FB-2F3AD754B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16FE7F5E-3ED0-6E77-65C9-0EDCB72BD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D28D1070-72E5-C4D5-609A-1283FB70A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7B2D283D-9366-F081-8AF6-23B5A07AB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ECB94C3E-346D-BFF7-E93E-3B8E7E62F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3CA28726-6C00-8356-B8D2-2CDDF653A5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41AFE7AB-C476-8E87-4810-523042AEB9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85F79379-C4E9-67EC-60F9-5D962BBA0F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693070EB-0951-CEE2-EBF3-B21DAAA835CF}"/>
              </a:ext>
            </a:extLst>
          </p:cNvPr>
          <p:cNvSpPr/>
          <p:nvPr/>
        </p:nvSpPr>
        <p:spPr>
          <a:xfrm>
            <a:off x="731520" y="2705100"/>
            <a:ext cx="10728960" cy="351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7172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A54F5-EA24-96F2-7D56-34C3C1F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26BB3F6-539B-A596-7D83-88EFF042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1982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CFIHOS distribution</a:t>
            </a:r>
            <a:br>
              <a:rPr lang="en-US" sz="4000" dirty="0"/>
            </a:br>
            <a:r>
              <a:rPr lang="en-US" sz="3100" dirty="0"/>
              <a:t>Version 2.0 October 2024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081E6E3-9134-BFE4-099E-1493100BC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923" y="1642751"/>
            <a:ext cx="5873750" cy="2385785"/>
          </a:xfrm>
        </p:spPr>
        <p:txBody>
          <a:bodyPr>
            <a:normAutofit fontScale="85000" lnSpcReduction="20000"/>
          </a:bodyPr>
          <a:lstStyle/>
          <a:p>
            <a:r>
              <a:rPr lang="en-US" sz="2300" dirty="0"/>
              <a:t>CFIHOS is a specification, not an implementation</a:t>
            </a:r>
          </a:p>
          <a:p>
            <a:endParaRPr lang="en-US" sz="2300" dirty="0"/>
          </a:p>
          <a:p>
            <a:r>
              <a:rPr lang="en-US" sz="2300" dirty="0"/>
              <a:t>CFIHOS data model can be inspected through an HTML explorer</a:t>
            </a:r>
          </a:p>
          <a:p>
            <a:pPr marL="152396" indent="0">
              <a:buNone/>
            </a:pPr>
            <a:endParaRPr lang="en-US" sz="2300" dirty="0"/>
          </a:p>
          <a:p>
            <a:r>
              <a:rPr lang="en-US" sz="2300" dirty="0"/>
              <a:t>CFIHOS reference data library is distributed as tables in Excel format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985822-C57C-0C6C-EC65-C5B9B924D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06" y="240866"/>
            <a:ext cx="4045076" cy="39138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FE42249-7FFE-35D0-C3F0-06C6CB15A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26" y="4507251"/>
            <a:ext cx="7868748" cy="1886213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902DA343-7702-839D-EA86-2BF69DEAB056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984111" y="2197808"/>
            <a:ext cx="1498795" cy="54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06D7C0E-A2B1-2F14-68CD-590D8064B36C}"/>
              </a:ext>
            </a:extLst>
          </p:cNvPr>
          <p:cNvCxnSpPr>
            <a:cxnSpLocks/>
          </p:cNvCxnSpPr>
          <p:nvPr/>
        </p:nvCxnSpPr>
        <p:spPr>
          <a:xfrm>
            <a:off x="3865944" y="4028536"/>
            <a:ext cx="1111498" cy="414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465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01F2-1895-EBF4-43A2-0F0B4D59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A4DD9F1-EE8E-2ACC-4C8F-F989F0FF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Generation of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F185F624-8F07-247C-9648-8615892CC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1200" dirty="0"/>
              <a:t>A translation process was developed to generate an OWL ontology by using the CFIHOS excel as input.</a:t>
            </a:r>
          </a:p>
          <a:p>
            <a:endParaRPr lang="en-US" sz="11200" dirty="0"/>
          </a:p>
          <a:p>
            <a:r>
              <a:rPr lang="en-US" sz="11200" dirty="0"/>
              <a:t>Processing made by sheet in the source file</a:t>
            </a:r>
          </a:p>
          <a:p>
            <a:endParaRPr lang="en-US" sz="11200" dirty="0"/>
          </a:p>
          <a:p>
            <a:endParaRPr lang="en-US" sz="11200" dirty="0"/>
          </a:p>
          <a:p>
            <a:r>
              <a:rPr lang="en-US" sz="11200" dirty="0"/>
              <a:t>The script is available at https://</a:t>
            </a:r>
            <a:r>
              <a:rPr lang="en-US" sz="11200" dirty="0" err="1"/>
              <a:t>github.com</a:t>
            </a:r>
            <a:r>
              <a:rPr lang="en-US" sz="11200" dirty="0"/>
              <a:t>/</a:t>
            </a:r>
            <a:r>
              <a:rPr lang="en-US" sz="11200" dirty="0" err="1"/>
              <a:t>tecnomod</a:t>
            </a:r>
            <a:r>
              <a:rPr lang="en-US" sz="11200" dirty="0"/>
              <a:t>-um/</a:t>
            </a:r>
            <a:r>
              <a:rPr lang="en-US" sz="11200" dirty="0" err="1"/>
              <a:t>cfihos</a:t>
            </a:r>
            <a:endParaRPr lang="en-US" sz="11200" dirty="0"/>
          </a:p>
          <a:p>
            <a:endParaRPr lang="en-US" sz="9600" dirty="0"/>
          </a:p>
          <a:p>
            <a:endParaRPr lang="en-US" sz="9600" dirty="0"/>
          </a:p>
          <a:p>
            <a:pPr marL="152396" indent="0">
              <a:buNone/>
            </a:pPr>
            <a:endParaRPr lang="en-US" sz="9600" dirty="0"/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670B4779-E274-2F7D-A792-12DE618E5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057" y="4986947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0E79AD08-71C8-7650-377D-8C166DDDCB89}"/>
              </a:ext>
            </a:extLst>
          </p:cNvPr>
          <p:cNvSpPr/>
          <p:nvPr/>
        </p:nvSpPr>
        <p:spPr>
          <a:xfrm rot="16200000">
            <a:off x="5582994" y="4866177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FC25BA21-7DD5-14C1-5EDD-52DAEB08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142" y="4820537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9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6A772-BDA0-7A43-692C-2F6D9C5D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8A35FBC-5A8A-E35B-442A-5A67B3AD3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modeling principles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C3B39444-141D-A754-584A-E02F0A0CB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/>
              <a:t>Alignment with the CFIHOS specification and principles</a:t>
            </a:r>
          </a:p>
          <a:p>
            <a:endParaRPr lang="en-US" sz="12800" dirty="0"/>
          </a:p>
          <a:p>
            <a:r>
              <a:rPr lang="en-US" sz="12800" dirty="0"/>
              <a:t>Alignment with the “common language”</a:t>
            </a:r>
          </a:p>
          <a:p>
            <a:pPr marL="186262" indent="0">
              <a:buNone/>
            </a:pPr>
            <a:endParaRPr lang="en-US" sz="12800" dirty="0"/>
          </a:p>
          <a:p>
            <a:r>
              <a:rPr lang="en-US" sz="12800" dirty="0"/>
              <a:t>Alignment with the Industrial Data Ontology (IDO)</a:t>
            </a:r>
          </a:p>
          <a:p>
            <a:pPr lvl="1"/>
            <a:r>
              <a:rPr lang="en-US" sz="12800" dirty="0"/>
              <a:t>Alignment of classes with IDO classes</a:t>
            </a:r>
          </a:p>
          <a:p>
            <a:pPr lvl="1"/>
            <a:r>
              <a:rPr lang="en-US" sz="12800" dirty="0"/>
              <a:t>Representation of properties using IDO modeling patterns</a:t>
            </a:r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532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4715-99AA-C7CF-581E-2712DF17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A71DFD5-E236-7E6B-872A-A7906BD45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&gt;6,200 classes, and &gt;1,400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Names and descriptions of classes and properties from</a:t>
            </a:r>
          </a:p>
          <a:p>
            <a:pPr marL="152396" indent="0">
              <a:buNone/>
            </a:pPr>
            <a:r>
              <a:rPr lang="en-US" dirty="0"/>
              <a:t>       the RDL Master object</a:t>
            </a:r>
          </a:p>
          <a:p>
            <a:endParaRPr lang="en-US" dirty="0"/>
          </a:p>
          <a:p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38356CB-8476-4BEA-BA18-4E64D697A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b="1" dirty="0"/>
              <a:t>Overview of the current CFIHOS ontology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7AD58DF-C2B8-047E-557B-653E6A82E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953" y="3918333"/>
            <a:ext cx="4540526" cy="2691966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E24AFE7-BF33-F298-18B3-B48AB7E4D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975" y="3044508"/>
            <a:ext cx="3620157" cy="3456842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249271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45AB-7B90-258E-595A-185D1FA9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2090BB6-FC44-47E9-D9B8-DBD3BB76F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1336583"/>
            <a:ext cx="5950732" cy="494638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960B970-2C2D-8C7D-349B-F1C93E18D68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75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 dirty="0"/>
              <a:t>Linking CFIHOS classes to the IDO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DA56615-0E56-49CE-339D-4BCB1298C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82154" y="1593684"/>
            <a:ext cx="4961978" cy="1017711"/>
          </a:xfrm>
        </p:spPr>
        <p:txBody>
          <a:bodyPr>
            <a:normAutofit fontScale="25000" lnSpcReduction="20000"/>
          </a:bodyPr>
          <a:lstStyle/>
          <a:p>
            <a:endParaRPr lang="en-US" sz="7200" dirty="0"/>
          </a:p>
          <a:p>
            <a:r>
              <a:rPr lang="en-US" sz="7200" dirty="0"/>
              <a:t>The Industrial Data Ontology (IDO) is a “top-level” ontology for industrial data terminology that defines generic terms for things that exist in more than one industrial domain.</a:t>
            </a:r>
          </a:p>
          <a:p>
            <a:endParaRPr lang="en-US" sz="7200" dirty="0"/>
          </a:p>
          <a:p>
            <a:r>
              <a:rPr lang="en-US" sz="7200" dirty="0"/>
              <a:t>Representing CFIHOS by extending IDO benefits the interoperability</a:t>
            </a:r>
          </a:p>
          <a:p>
            <a:endParaRPr lang="en-US" sz="7200" dirty="0"/>
          </a:p>
          <a:p>
            <a:r>
              <a:rPr lang="en-US" sz="7200" dirty="0"/>
              <a:t>The main classes of the CFIHOS ontology have been linked to the Industrial Data Ontology</a:t>
            </a:r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22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0C73-C10F-687A-8F4D-056ED56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5657C09B-94F0-64AA-B09F-C9C7EB564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511" y="1708080"/>
            <a:ext cx="4581135" cy="4374468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2B3D4E-C587-8CCB-AFFB-6FB4CC4D306E}"/>
              </a:ext>
            </a:extLst>
          </p:cNvPr>
          <p:cNvSpPr/>
          <p:nvPr/>
        </p:nvSpPr>
        <p:spPr>
          <a:xfrm>
            <a:off x="1507966" y="1939752"/>
            <a:ext cx="1777473" cy="20386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5F19615-99B9-C9CE-B2A0-C4839DF46C80}"/>
              </a:ext>
            </a:extLst>
          </p:cNvPr>
          <p:cNvSpPr/>
          <p:nvPr/>
        </p:nvSpPr>
        <p:spPr>
          <a:xfrm>
            <a:off x="1507966" y="2264559"/>
            <a:ext cx="2458255" cy="196549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AA13AB-53E5-70A8-7C22-ADB5CE2907C5}"/>
              </a:ext>
            </a:extLst>
          </p:cNvPr>
          <p:cNvSpPr/>
          <p:nvPr/>
        </p:nvSpPr>
        <p:spPr>
          <a:xfrm>
            <a:off x="1507966" y="2629685"/>
            <a:ext cx="191483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26BCC2-E681-E2F5-FA69-3F34E428B974}"/>
              </a:ext>
            </a:extLst>
          </p:cNvPr>
          <p:cNvSpPr/>
          <p:nvPr/>
        </p:nvSpPr>
        <p:spPr>
          <a:xfrm>
            <a:off x="1507967" y="4290939"/>
            <a:ext cx="173626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D73116-AD0E-3EA4-3209-99D513FEAB92}"/>
              </a:ext>
            </a:extLst>
          </p:cNvPr>
          <p:cNvSpPr/>
          <p:nvPr/>
        </p:nvSpPr>
        <p:spPr>
          <a:xfrm>
            <a:off x="1370604" y="4654720"/>
            <a:ext cx="1914836" cy="737896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630C9D-C456-1572-BE07-B6F790D00235}"/>
              </a:ext>
            </a:extLst>
          </p:cNvPr>
          <p:cNvSpPr/>
          <p:nvPr/>
        </p:nvSpPr>
        <p:spPr>
          <a:xfrm>
            <a:off x="7136079" y="2848112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IDO Class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B1CA37-B559-707B-B12D-1E88972D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Linking CFIHOS classes to the IDO</a:t>
            </a:r>
            <a:endParaRPr lang="en-US" sz="2800" b="1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621D6A1-71B5-115B-4284-FC525D861F4D}"/>
              </a:ext>
            </a:extLst>
          </p:cNvPr>
          <p:cNvSpPr/>
          <p:nvPr/>
        </p:nvSpPr>
        <p:spPr>
          <a:xfrm>
            <a:off x="1507966" y="5616894"/>
            <a:ext cx="2899908" cy="34471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3455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EF359-D175-9A79-BB9D-E7542E52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BDB7C71-DE6C-43F1-302E-ED66A9C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3C840FA-BC99-8E14-16B8-9C1AE04A3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396" indent="0">
              <a:buNone/>
            </a:pPr>
            <a:r>
              <a:rPr lang="en-GB" sz="2200" b="1" dirty="0"/>
              <a:t>Classification of properties</a:t>
            </a:r>
          </a:p>
          <a:p>
            <a:pPr marL="152396" indent="0">
              <a:buNone/>
            </a:pPr>
            <a:endParaRPr lang="en-GB" sz="2200" dirty="0"/>
          </a:p>
          <a:p>
            <a:r>
              <a:rPr lang="en-GB" sz="2200" dirty="0"/>
              <a:t>The property has a dimension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Quantitative</a:t>
            </a:r>
            <a:endParaRPr lang="en-GB" sz="2200" b="1" dirty="0"/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The property has a picklist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Qualitative</a:t>
            </a:r>
            <a:endParaRPr lang="en-GB" sz="2200" b="1" dirty="0"/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b="1" dirty="0"/>
              <a:t>Quantitative</a:t>
            </a:r>
            <a:r>
              <a:rPr lang="en-GB" sz="2200" dirty="0"/>
              <a:t> if the data type is “number”</a:t>
            </a:r>
          </a:p>
          <a:p>
            <a:pPr lvl="1"/>
            <a:r>
              <a:rPr lang="en-GB" sz="2200" b="1" dirty="0"/>
              <a:t>Qualitative</a:t>
            </a:r>
            <a:r>
              <a:rPr lang="en-GB" sz="2200" dirty="0"/>
              <a:t> in other case</a:t>
            </a:r>
          </a:p>
        </p:txBody>
      </p:sp>
    </p:spTree>
    <p:extLst>
      <p:ext uri="{BB962C8B-B14F-4D97-AF65-F5344CB8AC3E}">
        <p14:creationId xmlns:p14="http://schemas.microsoft.com/office/powerpoint/2010/main" val="1250082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DEFFB-BA1F-789B-2ABD-2239F0ADB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9E3E9A8-2411-183B-C17C-7E3C20BC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04F251-1723-ECF5-871E-FC900051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8" y="1627553"/>
            <a:ext cx="6255727" cy="375096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B7BA75B-1254-ABBF-6E00-CFCBB044C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542" y="1600200"/>
            <a:ext cx="5842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914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C3A5B-8F4B-18BB-3CB7-ECA15973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0190E7F-B969-9671-3882-7D166F2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pic>
        <p:nvPicPr>
          <p:cNvPr id="3" name="Imagen 2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6E108602-7B75-E1C7-C9A5-1038EB01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78" y="4068816"/>
            <a:ext cx="9336043" cy="1929388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332BF4D-AB75-B943-962C-588A754D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9554751" cy="1929387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IDO does not work with object properties but Quality classes.</a:t>
            </a:r>
          </a:p>
          <a:p>
            <a:endParaRPr lang="en-US" sz="4500" dirty="0"/>
          </a:p>
          <a:p>
            <a:r>
              <a:rPr lang="en-US" sz="4500" dirty="0"/>
              <a:t>Quality classes were created from object properties and axioms were redefined in these terms</a:t>
            </a:r>
          </a:p>
          <a:p>
            <a:endParaRPr lang="en-US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052158E-C414-F0D3-4C1F-D10B59DEDF58}"/>
              </a:ext>
            </a:extLst>
          </p:cNvPr>
          <p:cNvSpPr/>
          <p:nvPr/>
        </p:nvSpPr>
        <p:spPr>
          <a:xfrm>
            <a:off x="2374900" y="4068816"/>
            <a:ext cx="3302000" cy="2065284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01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8E1A5-ED69-C854-6421-4146B50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AA5561F2-9505-AF70-34F2-5513C06CF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6803329" cy="604769"/>
          </a:xfrm>
        </p:spPr>
        <p:txBody>
          <a:bodyPr>
            <a:normAutofit/>
          </a:bodyPr>
          <a:lstStyle/>
          <a:p>
            <a:r>
              <a:rPr lang="en-US" sz="2000" dirty="0"/>
              <a:t>The qualities are classified according to  IDO</a:t>
            </a:r>
          </a:p>
        </p:txBody>
      </p:sp>
      <p:pic>
        <p:nvPicPr>
          <p:cNvPr id="4" name="Imagen 3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DCDE7E53-2473-BDA4-D797-8F7E48D79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098" y="2319379"/>
            <a:ext cx="9701804" cy="43068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3FD395-36D3-CCCE-6151-4731B5C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117E1EB-A0C3-4519-92D4-F96057C1416C}"/>
              </a:ext>
            </a:extLst>
          </p:cNvPr>
          <p:cNvSpPr/>
          <p:nvPr/>
        </p:nvSpPr>
        <p:spPr>
          <a:xfrm>
            <a:off x="2374900" y="2145323"/>
            <a:ext cx="3302000" cy="4480889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2997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AA91-FBF9-0E52-D9DB-83A62046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4F594A-7C99-6BAD-4D2D-0D034F5A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First example</a:t>
            </a:r>
            <a:endParaRPr lang="en-US" sz="4000" b="1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8F6C30E-087B-9389-805E-18A5CC22BFCA}"/>
              </a:ext>
            </a:extLst>
          </p:cNvPr>
          <p:cNvGrpSpPr/>
          <p:nvPr/>
        </p:nvGrpSpPr>
        <p:grpSpPr>
          <a:xfrm>
            <a:off x="1258325" y="3410177"/>
            <a:ext cx="9336043" cy="2910950"/>
            <a:chOff x="1258325" y="3410177"/>
            <a:chExt cx="9336043" cy="2910950"/>
          </a:xfrm>
        </p:grpSpPr>
        <p:pic>
          <p:nvPicPr>
            <p:cNvPr id="4" name="Imagen 3" descr="Interfaz de usuario gráfica, Aplicación&#10;&#10;El contenido generado por IA puede ser incorrecto.">
              <a:extLst>
                <a:ext uri="{FF2B5EF4-FFF2-40B4-BE49-F238E27FC236}">
                  <a16:creationId xmlns:a16="http://schemas.microsoft.com/office/drawing/2014/main" id="{9ED92F97-6CD3-994B-0593-0D812D076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9834"/>
            <a:stretch>
              <a:fillRect/>
            </a:stretch>
          </p:blipFill>
          <p:spPr>
            <a:xfrm>
              <a:off x="1258325" y="3652096"/>
              <a:ext cx="9336043" cy="2669031"/>
            </a:xfrm>
            <a:prstGeom prst="rect">
              <a:avLst/>
            </a:prstGeom>
          </p:spPr>
        </p:pic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9C3436A5-53E1-5DDE-DA00-4C4AA6CDE058}"/>
                </a:ext>
              </a:extLst>
            </p:cNvPr>
            <p:cNvSpPr/>
            <p:nvPr/>
          </p:nvSpPr>
          <p:spPr>
            <a:xfrm>
              <a:off x="2426676" y="3458665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11BC25B6-8ADE-FDE6-1063-3EC694D5B199}"/>
                </a:ext>
              </a:extLst>
            </p:cNvPr>
            <p:cNvSpPr/>
            <p:nvPr/>
          </p:nvSpPr>
          <p:spPr>
            <a:xfrm>
              <a:off x="4788876" y="3410177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1E906B8C-E878-D5D1-5FE5-C95CE46EE890}"/>
              </a:ext>
            </a:extLst>
          </p:cNvPr>
          <p:cNvSpPr txBox="1"/>
          <p:nvPr/>
        </p:nvSpPr>
        <p:spPr>
          <a:xfrm>
            <a:off x="857400" y="166505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</a:t>
            </a:r>
            <a:r>
              <a:rPr lang="en-GB" sz="2200" b="1" dirty="0" err="1"/>
              <a:t>powerCable</a:t>
            </a:r>
            <a:r>
              <a:rPr lang="en-GB" sz="2200" b="1" dirty="0"/>
              <a:t> 1 has a length of 30 m</a:t>
            </a:r>
          </a:p>
        </p:txBody>
      </p:sp>
    </p:spTree>
    <p:extLst>
      <p:ext uri="{BB962C8B-B14F-4D97-AF65-F5344CB8AC3E}">
        <p14:creationId xmlns:p14="http://schemas.microsoft.com/office/powerpoint/2010/main" val="4171203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F697-C3E7-6E66-DB82-27513558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4C6F298-54FE-5E2B-523B-18515110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 example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CB0E03-4DC2-10D3-13B7-B634489A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8" y="2165860"/>
            <a:ext cx="10864321" cy="43561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49B26E-8DC4-9C1B-7439-E100906FB09B}"/>
              </a:ext>
            </a:extLst>
          </p:cNvPr>
          <p:cNvSpPr txBox="1"/>
          <p:nvPr/>
        </p:nvSpPr>
        <p:spPr>
          <a:xfrm>
            <a:off x="930552" y="1604680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38563411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F88D-96A3-789A-AF13-F548DFFBF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55C6C507-532E-FB66-E080-38EF8463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Shortcuts: IDO expressions - CFIHOS properties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BAAAC1-A801-978D-17FE-0EF4BECC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dirty="0"/>
              <a:t>Each </a:t>
            </a:r>
            <a:r>
              <a:rPr lang="en-US" b="1" dirty="0"/>
              <a:t>quality</a:t>
            </a:r>
            <a:r>
              <a:rPr lang="en-US" dirty="0"/>
              <a:t> in the CFIHOS ontology is annotated with the </a:t>
            </a:r>
            <a:r>
              <a:rPr lang="en-US" b="1" dirty="0"/>
              <a:t>object property </a:t>
            </a:r>
            <a:r>
              <a:rPr lang="en-US" dirty="0"/>
              <a:t>from which it </a:t>
            </a:r>
            <a:r>
              <a:rPr lang="en-US" b="1" dirty="0"/>
              <a:t>derives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AA1F2-4CB4-5C44-32BC-E4BAA28B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53730"/>
            <a:ext cx="12105262" cy="366642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3809830-6243-7069-A3DB-B1631E8FE064}"/>
              </a:ext>
            </a:extLst>
          </p:cNvPr>
          <p:cNvSpPr/>
          <p:nvPr/>
        </p:nvSpPr>
        <p:spPr>
          <a:xfrm>
            <a:off x="3446585" y="3294185"/>
            <a:ext cx="2778369" cy="633046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047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A4C5-6B0D-973D-80FF-6840F462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9A6A044-BAD1-87D9-D30A-70FBF672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Object Properties    ⇔  IDO expressions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7DE16D-DF67-C8AA-FA0F-7013BA9702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50"/>
          <a:stretch>
            <a:fillRect/>
          </a:stretch>
        </p:blipFill>
        <p:spPr>
          <a:xfrm>
            <a:off x="6499804" y="1902392"/>
            <a:ext cx="5399119" cy="3496198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34FA79-72BB-3BB4-E497-0EF05A74F5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464"/>
          <a:stretch>
            <a:fillRect/>
          </a:stretch>
        </p:blipFill>
        <p:spPr>
          <a:xfrm>
            <a:off x="293077" y="2145329"/>
            <a:ext cx="5637823" cy="1783829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1976675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0B4C0-D2DA-C971-950B-7592E41B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2E17D0-5CF0-E895-6DAB-A7B00BFB1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Other modeling aspects: property groups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038D119-F6BC-4748-BDEA-DEF6F9540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Property groups were modelled as classes</a:t>
            </a:r>
          </a:p>
          <a:p>
            <a:endParaRPr lang="en-GB" sz="2200" dirty="0"/>
          </a:p>
          <a:p>
            <a:r>
              <a:rPr lang="en-GB" sz="2200" dirty="0"/>
              <a:t>Use of the annotation property </a:t>
            </a:r>
            <a:r>
              <a:rPr lang="en-GB" sz="2200" i="1" dirty="0" err="1"/>
              <a:t>schema:category</a:t>
            </a:r>
            <a:r>
              <a:rPr lang="en-GB" sz="2200" i="1" dirty="0"/>
              <a:t> </a:t>
            </a:r>
            <a:r>
              <a:rPr lang="en-GB" sz="2200" dirty="0"/>
              <a:t>to link a property with its property group</a:t>
            </a:r>
          </a:p>
        </p:txBody>
      </p:sp>
      <p:pic>
        <p:nvPicPr>
          <p:cNvPr id="3" name="Imagen 2" descr="Texto, Carta&#10;&#10;El contenido generado por IA puede ser incorrecto.">
            <a:extLst>
              <a:ext uri="{FF2B5EF4-FFF2-40B4-BE49-F238E27FC236}">
                <a16:creationId xmlns:a16="http://schemas.microsoft.com/office/drawing/2014/main" id="{DD13EB2A-C1BD-AF76-DF14-0AFCA2663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355"/>
          <a:stretch>
            <a:fillRect/>
          </a:stretch>
        </p:blipFill>
        <p:spPr>
          <a:xfrm>
            <a:off x="6636590" y="1536633"/>
            <a:ext cx="4363059" cy="1241073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F13848D-4FF1-5693-8C8F-1A18DE76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2722" y="3814233"/>
            <a:ext cx="7772400" cy="187141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3B47B79-F4DB-3E43-17CD-96E7542D5CA5}"/>
              </a:ext>
            </a:extLst>
          </p:cNvPr>
          <p:cNvSpPr/>
          <p:nvPr/>
        </p:nvSpPr>
        <p:spPr>
          <a:xfrm>
            <a:off x="1732722" y="5232266"/>
            <a:ext cx="2768940" cy="453380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0265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14B9-ACD0-65E4-B28E-76F2C34E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62C89EDD-76BF-C588-F83D-C8AB6FBA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3367"/>
            <a:ext cx="12192000" cy="763600"/>
          </a:xfrm>
        </p:spPr>
        <p:txBody>
          <a:bodyPr>
            <a:noAutofit/>
          </a:bodyPr>
          <a:lstStyle/>
          <a:p>
            <a:r>
              <a:rPr lang="en-US" sz="3600" dirty="0"/>
              <a:t>Other modelling aspects: mappings to other standards</a:t>
            </a:r>
            <a:endParaRPr lang="en-US" sz="36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2E3867-6012-BFC0-EB24-733ABA4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622" y="2385391"/>
            <a:ext cx="9473935" cy="423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DB51D29C-B841-F566-9465-047D5E8A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Use of annotation property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670E2-229F-BBDD-1A9B-58FFDFE36C46}"/>
              </a:ext>
            </a:extLst>
          </p:cNvPr>
          <p:cNvSpPr/>
          <p:nvPr/>
        </p:nvSpPr>
        <p:spPr>
          <a:xfrm>
            <a:off x="2136910" y="4186316"/>
            <a:ext cx="2778369" cy="862761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618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F192-D19D-05AD-8EF4-AFD5207B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46989C5-6383-917E-1AE1-44D677A8B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9BCE6DC-A5C9-D934-26F0-42915DAD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75449"/>
            <a:ext cx="8946514" cy="2739988"/>
          </a:xfrm>
        </p:spPr>
        <p:txBody>
          <a:bodyPr>
            <a:normAutofit/>
          </a:bodyPr>
          <a:lstStyle/>
          <a:p>
            <a:r>
              <a:rPr lang="en-US" dirty="0"/>
              <a:t>The ontology was tested by using a set of 15 competency questions (CQ).</a:t>
            </a:r>
          </a:p>
          <a:p>
            <a:endParaRPr lang="en-US" dirty="0"/>
          </a:p>
          <a:p>
            <a:r>
              <a:rPr lang="en-US" dirty="0"/>
              <a:t>These CQs were answered by querying the ontology through SPARQL queries.</a:t>
            </a:r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FC0B6B7-02D8-7E20-88E4-33930503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0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BF166-E987-2F13-774B-25A1E847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5B6DCDF-2FED-E549-E7DD-9F6EFBD1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C9F691A-B447-457F-26C5-FD79298C6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2011704"/>
            <a:ext cx="9774014" cy="3972479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B8915D-488A-7120-941C-7914B8FF4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0753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CBFD-AD5F-A68B-318D-E9D2ACEE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044E2B9-569E-8A8C-75EB-340206C68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A40C384-B9C2-75D4-7B8B-39F2D03D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87C66F-B75E-6F69-3B25-B3DCFB9F1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743912"/>
            <a:ext cx="5701285" cy="175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121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3AF6-19E8-A901-BD72-71E36F2D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841AC314-9A4C-31D1-D1BA-5A1B1451F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7802E86F-CF06-1D97-B6F5-EF4B02DAB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D1358B5-3981-33D2-2398-1BD47306E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49" y="1734824"/>
            <a:ext cx="11490185" cy="12214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F5D4DB-71A3-0323-4EDE-E9185E65D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50" y="3593238"/>
            <a:ext cx="5660032" cy="102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72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5CABA-F040-A4C5-F499-BC40D3424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5429BF6-4D0A-279F-E18B-712DCA14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A04276-80F4-74EA-50B5-08514780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81" y="1745433"/>
            <a:ext cx="7787812" cy="2696121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94B5B8F8-389B-E5AC-CDB6-9ABF3949A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386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21CF-CC40-8799-9B73-A41F9170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D647948-4100-E75F-9B1F-B76AD10F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40CB32-5B68-ECA7-2FF5-8D3FBBF7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9" y="1847832"/>
            <a:ext cx="10231278" cy="3477110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18B2064-D93F-8F5F-740D-1C7D4B287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342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E4C-9D0B-C0B6-2534-0FF143BB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1ACCAE3-26B3-EB5B-4689-2507165A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E91AA7DF-0CC2-A95B-2D69-C75A6C81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  <p:pic>
        <p:nvPicPr>
          <p:cNvPr id="3" name="Imagen 2" descr="Tabla&#10;&#10;El contenido generado por IA puede ser incorrecto.">
            <a:extLst>
              <a:ext uri="{FF2B5EF4-FFF2-40B4-BE49-F238E27FC236}">
                <a16:creationId xmlns:a16="http://schemas.microsoft.com/office/drawing/2014/main" id="{7509C6D7-E11C-7F4E-AB15-EA33A1A6E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55" y="1657176"/>
            <a:ext cx="5913054" cy="148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586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1F48-DE58-3E58-5D98-1E277ED2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01EA274-FCD3-A4E5-DF7F-AAB17338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The common language applied to CFIHOS</a:t>
            </a:r>
            <a:endParaRPr lang="en-US" sz="4000" b="1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4E025DBB-03C4-8028-7D82-B2CB5BCA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853" y="1408235"/>
            <a:ext cx="7751787" cy="496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3392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5467-B11C-1874-0B66-EA55BB02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E662F11-F3F8-E701-0F29-1339B00F6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Final remarks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E4921C-1F36-0105-A715-3ABA17A0E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681913" cy="4670949"/>
          </a:xfrm>
        </p:spPr>
        <p:txBody>
          <a:bodyPr>
            <a:normAutofit fontScale="92500" lnSpcReduction="20000"/>
          </a:bodyPr>
          <a:lstStyle/>
          <a:p>
            <a:r>
              <a:rPr lang="en-US" sz="3800" dirty="0"/>
              <a:t>Development of a CFIHOS ontology based on the IDO</a:t>
            </a:r>
          </a:p>
          <a:p>
            <a:pPr marL="152396" indent="0">
              <a:buNone/>
            </a:pPr>
            <a:endParaRPr lang="en-US" sz="3800" dirty="0"/>
          </a:p>
          <a:p>
            <a:r>
              <a:rPr lang="en-US" sz="3800" dirty="0"/>
              <a:t>Need for validation from the CFIHOS community and testing in real scenarios</a:t>
            </a:r>
          </a:p>
          <a:p>
            <a:endParaRPr lang="en-US" sz="3800" dirty="0"/>
          </a:p>
          <a:p>
            <a:r>
              <a:rPr lang="en-US" sz="3800" dirty="0"/>
              <a:t>Need to clarification: Tag vs Equipment</a:t>
            </a:r>
          </a:p>
          <a:p>
            <a:endParaRPr lang="en-US" sz="3800" dirty="0"/>
          </a:p>
          <a:p>
            <a:r>
              <a:rPr lang="en-US" sz="3800" dirty="0"/>
              <a:t>Use of a modelling pattern that could be applied to other standards to promote data interoperability</a:t>
            </a:r>
          </a:p>
          <a:p>
            <a:endParaRPr lang="en-US" sz="3800" dirty="0"/>
          </a:p>
          <a:p>
            <a:endParaRPr lang="en-US" sz="45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58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E104-E044-79DE-FD54-8A31F1CDC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27460-C9AC-B3B8-AD40-11428AE452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AEF1F5A-0367-4FE3-8555-8C1A27B99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 Castro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DFC1F77A-BE60-94D3-398B-36CBAEF07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464689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4D217A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0" tIns="0" rIns="0" bIns="0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gradFill>
            <a:gsLst>
              <a:gs pos="0">
                <a:schemeClr val="tx1"/>
              </a:gs>
              <a:gs pos="100000">
                <a:schemeClr val="tx1">
                  <a:alpha val="5000"/>
                </a:schemeClr>
              </a:gs>
            </a:gsLst>
            <a:lin ang="0" scaled="0"/>
          </a:gradFill>
        </a:ln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err="1" smtClean="0"/>
        </a:defPPr>
      </a:lstStyle>
    </a:txDef>
  </a:objectDefaults>
  <a:extraClrSchemeLst/>
  <a:custClrLst>
    <a:custClr name="SE Brown 0">
      <a:srgbClr val="EFEBEA"/>
    </a:custClr>
    <a:custClr name="SE Brown 3">
      <a:srgbClr val="8F7C7A"/>
    </a:custClr>
    <a:custClr name="SE Gray 0">
      <a:srgbClr val="EAF4F8"/>
    </a:custClr>
    <a:custClr name="SE Gray 3">
      <a:srgbClr val="96B0C0"/>
    </a:custClr>
    <a:custClr name="SE Green 0">
      <a:srgbClr val="DCFFDC"/>
    </a:custClr>
    <a:custClr name="SE Green 3">
      <a:srgbClr val="27B66D"/>
    </a:custClr>
    <a:custClr name="SE Blue 0">
      <a:srgbClr val="CAF9FF"/>
    </a:custClr>
    <a:custClr name="SE Blue 3">
      <a:srgbClr val="0084E1"/>
    </a:custClr>
    <a:custClr name="SE Yellow 0">
      <a:srgbClr val="FCFCB5"/>
    </a:custClr>
    <a:custClr name="SE Yellow 3">
      <a:srgbClr val="E2D000"/>
    </a:custClr>
    <a:custClr name="SE Brown 1">
      <a:srgbClr val="CFC0BE"/>
    </a:custClr>
    <a:custClr name="SE Brown 4">
      <a:srgbClr val="7D6766"/>
    </a:custClr>
    <a:custClr name="SE Gray 1">
      <a:srgbClr val="D7E4EE"/>
    </a:custClr>
    <a:custClr name="SE Gray 4">
      <a:srgbClr val="7B919D"/>
    </a:custClr>
    <a:custClr name="SE Green 1">
      <a:srgbClr val="00FD79"/>
    </a:custClr>
    <a:custClr name="SE Green 4">
      <a:srgbClr val="009B55"/>
    </a:custClr>
    <a:custClr name="SE Blue 1">
      <a:srgbClr val="6ADDFF"/>
    </a:custClr>
    <a:custClr name="SE Blue 4">
      <a:srgbClr val="0057C6"/>
    </a:custClr>
    <a:custClr name="SE Yellow 1">
      <a:srgbClr val="FFF91F"/>
    </a:custClr>
    <a:custClr name="SE Yellow 4">
      <a:srgbClr val="C6AE00"/>
    </a:custClr>
    <a:custClr name="SE Brown 2">
      <a:srgbClr val="AF9E9C"/>
    </a:custClr>
    <a:custClr name="SE Brown 5">
      <a:srgbClr val="564646"/>
    </a:custClr>
    <a:custClr name="SE Gray 2">
      <a:srgbClr val="B8CEDB"/>
    </a:custClr>
    <a:custClr name="SE Gray 5">
      <a:srgbClr val="54646E"/>
    </a:custClr>
    <a:custClr name="SE Green 2">
      <a:srgbClr val="14DA79"/>
    </a:custClr>
    <a:custClr name="SE Green 5">
      <a:srgbClr val="006C3B"/>
    </a:custClr>
    <a:custClr name="SE Blue 2">
      <a:srgbClr val="21C0FF"/>
    </a:custClr>
    <a:custClr name="SE Blue 5">
      <a:srgbClr val="00328C"/>
    </a:custClr>
    <a:custClr name="SE Yellow 2">
      <a:srgbClr val="F6E600"/>
    </a:custClr>
    <a:custClr name="SE Yellow 5">
      <a:srgbClr val="8C7500"/>
    </a:custClr>
  </a:custClrLst>
  <a:extLst>
    <a:ext uri="{05A4C25C-085E-4340-85A3-A5531E510DB2}">
      <thm15:themeFamily xmlns:thm15="http://schemas.microsoft.com/office/thememl/2012/main" name="SE_PPT-Template.pptx" id="{023A37F2-AF87-4822-B4D0-64FAE8ABED5E}" vid="{9F6375CC-19C6-408F-A8EE-C21CBC27B287}"/>
    </a:ext>
  </a:extLst>
</a:theme>
</file>

<file path=ppt/theme/theme2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SE_PPT-Template</Template>
  <TotalTime>7547</TotalTime>
  <Words>1125</Words>
  <Application>Microsoft Macintosh PowerPoint</Application>
  <PresentationFormat>Panorámica</PresentationFormat>
  <Paragraphs>282</Paragraphs>
  <Slides>35</Slides>
  <Notes>35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39" baseType="lpstr">
      <vt:lpstr>Arial</vt:lpstr>
      <vt:lpstr>Times New Roman</vt:lpstr>
      <vt:lpstr>Wingdings</vt:lpstr>
      <vt:lpstr>Siemens Energy</vt:lpstr>
      <vt:lpstr>Development of the CFIHOS ontology </vt:lpstr>
      <vt:lpstr>The Ecosystem of Industry Standards</vt:lpstr>
      <vt:lpstr>The Ecosystem of Industry Standards</vt:lpstr>
      <vt:lpstr>A Siemens Energy Centrifugal Pump</vt:lpstr>
      <vt:lpstr>A Siemens Energy Centrifugal Pump</vt:lpstr>
      <vt:lpstr>A Siemens Energy Centrifugal Pump</vt:lpstr>
      <vt:lpstr>Common aspects of the standards</vt:lpstr>
      <vt:lpstr>Presentación de PowerPoint</vt:lpstr>
      <vt:lpstr>Common aspects of the standards</vt:lpstr>
      <vt:lpstr>CFIHOS distribution Version 2.0 October 2024</vt:lpstr>
      <vt:lpstr>Generation of the CFIHOS ontology</vt:lpstr>
      <vt:lpstr>CFIHOS ontology modeling principles</vt:lpstr>
      <vt:lpstr>Overview of the current CFIHOS ontology</vt:lpstr>
      <vt:lpstr>Presentación de PowerPoint</vt:lpstr>
      <vt:lpstr>Linking CFIHOS classes to the IDO</vt:lpstr>
      <vt:lpstr>Modeling properties</vt:lpstr>
      <vt:lpstr>Modeling properties</vt:lpstr>
      <vt:lpstr>IDO-based Property modeling</vt:lpstr>
      <vt:lpstr>IDO-based Property modeling</vt:lpstr>
      <vt:lpstr>First example</vt:lpstr>
      <vt:lpstr>Second example</vt:lpstr>
      <vt:lpstr>Shortcuts: IDO expressions - CFIHOS properties</vt:lpstr>
      <vt:lpstr>Object Properties    ⇔  IDO expressions</vt:lpstr>
      <vt:lpstr>Other modeling aspects: property groups</vt:lpstr>
      <vt:lpstr>Other modelling aspects: mappings to other standards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The common language applied to CFIHOS</vt:lpstr>
      <vt:lpstr>Final remarks</vt:lpstr>
      <vt:lpstr>Development of the CFIHOS ontology </vt:lpstr>
    </vt:vector>
  </TitlesOfParts>
  <Company>Siemens Energy</Company>
  <LinksUpToDate>false</LinksUpToDate>
  <SharedDoc>false</SharedDoc>
  <HyperlinkBase>www.siemens-energy.com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Energy White Template</dc:title>
  <dc:creator>fabad</dc:creator>
  <dc:description>March 2022
Version 1.2</dc:description>
  <cp:lastModifiedBy>JESUALDO TOMAS FERNANDEZ BREIS</cp:lastModifiedBy>
  <cp:revision>497</cp:revision>
  <cp:lastPrinted>2020-03-11T17:11:35Z</cp:lastPrinted>
  <dcterms:created xsi:type="dcterms:W3CDTF">2020-10-26T15:38:43Z</dcterms:created>
  <dcterms:modified xsi:type="dcterms:W3CDTF">2026-02-25T14:55:39Z</dcterms:modified>
  <cp:contentStatus>Template</cp:contentStatus>
</cp:coreProperties>
</file>
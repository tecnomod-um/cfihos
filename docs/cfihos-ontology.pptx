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076136643" r:id="rId2"/>
    <p:sldId id="2076136468" r:id="rId3"/>
    <p:sldId id="2076136601" r:id="rId4"/>
    <p:sldId id="2076136602" r:id="rId5"/>
    <p:sldId id="2076136604" r:id="rId6"/>
    <p:sldId id="2076136469" r:id="rId7"/>
    <p:sldId id="2076136646" r:id="rId8"/>
    <p:sldId id="2076136682" r:id="rId9"/>
    <p:sldId id="2076136625" r:id="rId10"/>
    <p:sldId id="2076136683" r:id="rId11"/>
    <p:sldId id="2076136645" r:id="rId12"/>
    <p:sldId id="2076136676" r:id="rId13"/>
    <p:sldId id="2076136656" r:id="rId14"/>
    <p:sldId id="2076136654" r:id="rId15"/>
    <p:sldId id="2076136684" r:id="rId16"/>
    <p:sldId id="2076136675" r:id="rId17"/>
    <p:sldId id="2076136663" r:id="rId18"/>
    <p:sldId id="2076136664" r:id="rId19"/>
    <p:sldId id="2076136665" r:id="rId20"/>
    <p:sldId id="2076136677" r:id="rId21"/>
    <p:sldId id="2076136659" r:id="rId22"/>
    <p:sldId id="2076136680" r:id="rId23"/>
    <p:sldId id="2076136672" r:id="rId24"/>
    <p:sldId id="2076136681" r:id="rId25"/>
    <p:sldId id="2076136632" r:id="rId26"/>
    <p:sldId id="2076136633" r:id="rId27"/>
    <p:sldId id="2076136634" r:id="rId28"/>
    <p:sldId id="2076136635" r:id="rId29"/>
    <p:sldId id="2076136636" r:id="rId30"/>
    <p:sldId id="2076136637" r:id="rId31"/>
    <p:sldId id="2076136673" r:id="rId32"/>
    <p:sldId id="2076136678" r:id="rId33"/>
    <p:sldId id="2076136686" r:id="rId34"/>
    <p:sldId id="2076136685" r:id="rId35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4" autoAdjust="0"/>
    <p:restoredTop sz="95761" autoAdjust="0"/>
  </p:normalViewPr>
  <p:slideViewPr>
    <p:cSldViewPr snapToGrid="0">
      <p:cViewPr varScale="1">
        <p:scale>
          <a:sx n="197" d="100"/>
          <a:sy n="197" d="100"/>
        </p:scale>
        <p:origin x="1944" y="184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b="1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3/13/26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3/13/26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E8F-05A7-E215-149D-2FFABF0E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05D2ABA-CFDB-AF7A-17C2-1A298636F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56DF61-A994-936A-32F4-C4E804EE7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184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21A0D-1E11-A9EB-8BED-2B0C7F2F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F4A33-865D-D1C6-2AF4-AD9065FC9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9A727-9BA9-3013-0828-D42CE57BF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063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6F0A-09E7-F107-D4AA-E3EF09CB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9380B-6BCA-AA18-2DCB-609E9F47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7E62-613D-1FE2-7878-06D337397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0574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38CC1-AD18-20A8-78EF-FD5405440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85DD5B-D084-8F21-F6A6-40470B8C1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40699-ABB2-340D-DA71-9A6B730E7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784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33F6-97A8-1415-9314-E0160E3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2782F0-F30D-F84A-3D20-66DB50BD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F26BF8-3705-6E54-CDBE-4CFC1527B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59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7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1F9BF8DF-77E4-E1FB-5779-2955619C3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7317168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0" y="1528255"/>
            <a:ext cx="33439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data interoperability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4">
            <a:extLst>
              <a:ext uri="{FF2B5EF4-FFF2-40B4-BE49-F238E27FC236}">
                <a16:creationId xmlns:a16="http://schemas.microsoft.com/office/drawing/2014/main" id="{F7329509-9865-10E2-479F-6C39130DEA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1999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/>
              <a:t>Towards a “common language”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F27EABF-E047-EC0B-D004-BC341F20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570" y="910708"/>
            <a:ext cx="9450754" cy="585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357EC-EACB-B56E-BA15-DEB2D8BB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EE607D3-84BD-9CD9-3E1A-93D7116572EA}"/>
              </a:ext>
            </a:extLst>
          </p:cNvPr>
          <p:cNvGraphicFramePr>
            <a:graphicFrameLocks noGrp="1"/>
          </p:cNvGraphicFramePr>
          <p:nvPr/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A289C0A-6C88-0568-23FE-C48789580C5E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E841420-3BF4-A609-D99A-2CDF4B4C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F96C267F-4B1D-7E85-5E62-AA1338D5F6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6D5A89C2-64B5-81D0-C68C-7F34ACD2CA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C85BEC9-ED78-BDC7-DCD6-333191654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364DCC10-332D-4CC5-BB2F-79D11A745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2EA0D353-306D-EFB0-35EC-29E0C0CA4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D3E6B7E-907F-BB38-C096-82AA038A0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1A1EBCBD-7F12-FBDC-95CE-6B90DCCD3B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F95DF6E-E071-DEA1-F536-928F19190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DE129DF-09ED-0920-C4EC-9737560C28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5E8D7666-0018-CBFA-0D1A-BEF96D402C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CBD91D6-81F6-E214-310F-8AD92F645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43593ADE-83A0-55DA-40FB-2F3AD754B7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6FE7F5E-3ED0-6E77-65C9-0EDCB72BD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28D1070-72E5-C4D5-609A-1283FB70A7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7B2D283D-9366-F081-8AF6-23B5A07ABE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ECB94C3E-346D-BFF7-E93E-3B8E7E62FA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CA28726-6C00-8356-B8D2-2CDDF653A5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1AFE7AB-C476-8E87-4810-523042AEB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85F79379-C4E9-67EC-60F9-5D962BBA0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693070EB-0951-CEE2-EBF3-B21DAAA835CF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7172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01F2-1895-EBF4-43A2-0F0B4D59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A4DD9F1-EE8E-2ACC-4C8F-F989F0FF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Generation of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F185F624-8F07-247C-9648-8615892CC1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1200" dirty="0"/>
              <a:t>A translation process was developed to generate an OWL ontology by using the CFIHOS excel as input.</a:t>
            </a:r>
          </a:p>
          <a:p>
            <a:endParaRPr lang="en-US" sz="11200" dirty="0"/>
          </a:p>
          <a:p>
            <a:r>
              <a:rPr lang="en-US" sz="11200" dirty="0"/>
              <a:t>Processing made by sheet in the source file</a:t>
            </a:r>
          </a:p>
          <a:p>
            <a:endParaRPr lang="en-US" sz="11200" dirty="0"/>
          </a:p>
          <a:p>
            <a:endParaRPr lang="en-US" sz="11200" dirty="0"/>
          </a:p>
          <a:p>
            <a:r>
              <a:rPr lang="en-US" sz="11200" dirty="0"/>
              <a:t>The script is available at https://</a:t>
            </a:r>
            <a:r>
              <a:rPr lang="en-US" sz="11200" dirty="0" err="1"/>
              <a:t>github.com</a:t>
            </a:r>
            <a:r>
              <a:rPr lang="en-US" sz="11200" dirty="0"/>
              <a:t>/</a:t>
            </a:r>
            <a:r>
              <a:rPr lang="en-US" sz="11200" dirty="0" err="1"/>
              <a:t>tecnomod</a:t>
            </a:r>
            <a:r>
              <a:rPr lang="en-US" sz="11200" dirty="0"/>
              <a:t>-um/</a:t>
            </a:r>
            <a:r>
              <a:rPr lang="en-US" sz="11200" dirty="0" err="1"/>
              <a:t>cfihos</a:t>
            </a:r>
            <a:endParaRPr lang="en-US" sz="11200" dirty="0"/>
          </a:p>
          <a:p>
            <a:endParaRPr lang="en-US" sz="9600" dirty="0"/>
          </a:p>
          <a:p>
            <a:endParaRPr lang="en-US" sz="9600" dirty="0"/>
          </a:p>
          <a:p>
            <a:pPr marL="152396" indent="0">
              <a:buNone/>
            </a:pPr>
            <a:endParaRPr lang="en-US" sz="9600" dirty="0"/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670B4779-E274-2F7D-A792-12DE618E5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057" y="498694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0E79AD08-71C8-7650-377D-8C166DDDCB89}"/>
              </a:ext>
            </a:extLst>
          </p:cNvPr>
          <p:cNvSpPr/>
          <p:nvPr/>
        </p:nvSpPr>
        <p:spPr>
          <a:xfrm rot="16200000">
            <a:off x="5582994" y="486617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FC25BA21-7DD5-14C1-5EDD-52DAEB08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142" y="482053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9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modeling principles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604122" cy="853852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/>
              <a:t>Alignment with the CFIHOS specification and principles</a:t>
            </a:r>
          </a:p>
          <a:p>
            <a:endParaRPr lang="en-US" sz="12800" dirty="0"/>
          </a:p>
          <a:p>
            <a:r>
              <a:rPr lang="en-US" sz="12800" dirty="0"/>
              <a:t>Alignment with the “common language”</a:t>
            </a:r>
          </a:p>
          <a:p>
            <a:pPr marL="186262" indent="0">
              <a:buNone/>
            </a:pPr>
            <a:endParaRPr lang="en-US" sz="12800" dirty="0"/>
          </a:p>
          <a:p>
            <a:r>
              <a:rPr lang="en-US" sz="12800" dirty="0"/>
              <a:t>Alignment with the Industrial Data Ontology (IDO)</a:t>
            </a:r>
          </a:p>
          <a:p>
            <a:pPr lvl="1"/>
            <a:r>
              <a:rPr lang="en-US" sz="12800" dirty="0"/>
              <a:t>Alignment of classes with IDO classes</a:t>
            </a:r>
          </a:p>
          <a:p>
            <a:pPr lvl="1"/>
            <a:r>
              <a:rPr lang="en-US" sz="12800" dirty="0"/>
              <a:t>Representation of properties using IDO modeling patterns</a:t>
            </a:r>
          </a:p>
          <a:p>
            <a:endParaRPr lang="en-US" sz="9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356967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Names and descriptions of classes and properties from</a:t>
            </a:r>
          </a:p>
          <a:p>
            <a:pPr marL="152396" indent="0">
              <a:buNone/>
            </a:pPr>
            <a:r>
              <a:rPr lang="en-US" dirty="0"/>
              <a:t>       the RDL Master object</a:t>
            </a:r>
          </a:p>
          <a:p>
            <a:endParaRPr lang="en-US" dirty="0"/>
          </a:p>
          <a:p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b="1" dirty="0"/>
              <a:t>Overview of the current CFIHOS ontology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7AD58DF-C2B8-047E-557B-653E6A82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953" y="3918333"/>
            <a:ext cx="4540526" cy="2691966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E24AFE7-BF33-F298-18B3-B48AB7E4D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975" y="3044508"/>
            <a:ext cx="3620157" cy="3456842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1336583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 dirty="0"/>
              <a:t>Linking CFIHOS classes to the IDO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DA56615-0E56-49CE-339D-4BCB1298C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2154" y="1593684"/>
            <a:ext cx="4961978" cy="1017711"/>
          </a:xfrm>
        </p:spPr>
        <p:txBody>
          <a:bodyPr>
            <a:normAutofit fontScale="25000" lnSpcReduction="20000"/>
          </a:bodyPr>
          <a:lstStyle/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endParaRPr lang="en-US" sz="7200" dirty="0"/>
          </a:p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5657C09B-94F0-64AA-B09F-C9C7EB564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511" y="1708080"/>
            <a:ext cx="4581135" cy="4374468"/>
          </a:xfrm>
          <a:prstGeom prst="rect">
            <a:avLst/>
          </a:prstGeom>
          <a:ln w="25400">
            <a:solidFill>
              <a:srgbClr val="7030A0"/>
            </a:solidFill>
          </a:ln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1507966" y="1939752"/>
            <a:ext cx="1777473" cy="20386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1507966" y="2264559"/>
            <a:ext cx="2458255" cy="19654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1507966" y="2629685"/>
            <a:ext cx="191483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1507967" y="4290939"/>
            <a:ext cx="1736266" cy="195205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1370604" y="4654720"/>
            <a:ext cx="1914836" cy="73789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Linking CFIHOS classes to the IDO</a:t>
            </a:r>
            <a:endParaRPr lang="en-US" sz="28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621D6A1-71B5-115B-4284-FC525D861F4D}"/>
              </a:ext>
            </a:extLst>
          </p:cNvPr>
          <p:cNvSpPr/>
          <p:nvPr/>
        </p:nvSpPr>
        <p:spPr>
          <a:xfrm>
            <a:off x="1507966" y="5616894"/>
            <a:ext cx="2899908" cy="34471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DEFFB-BA1F-789B-2ABD-2239F0ADB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E3E9A8-2411-183B-C17C-7E3C20BC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04F251-1723-ECF5-871E-FC900051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8" y="1627553"/>
            <a:ext cx="6255727" cy="375096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B7BA75B-1254-ABBF-6E00-CFCBB044C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542" y="1600200"/>
            <a:ext cx="5842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14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Modeling properties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2" y="1639667"/>
            <a:ext cx="10505567" cy="1929387"/>
          </a:xfrm>
        </p:spPr>
        <p:txBody>
          <a:bodyPr>
            <a:normAutofit fontScale="62500" lnSpcReduction="20000"/>
          </a:bodyPr>
          <a:lstStyle/>
          <a:p>
            <a:r>
              <a:rPr lang="en-US" sz="4500" dirty="0"/>
              <a:t>IDO does not use object properties for qualities but classes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052158E-C414-F0D3-4C1F-D10B59DEDF58}"/>
              </a:ext>
            </a:extLst>
          </p:cNvPr>
          <p:cNvSpPr/>
          <p:nvPr/>
        </p:nvSpPr>
        <p:spPr>
          <a:xfrm>
            <a:off x="2374900" y="4068816"/>
            <a:ext cx="3302000" cy="2065284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IDO-based Property modeling</a:t>
            </a:r>
            <a:endParaRPr lang="en-US" sz="4000" b="1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17E1EB-A0C3-4519-92D4-F96057C1416C}"/>
              </a:ext>
            </a:extLst>
          </p:cNvPr>
          <p:cNvSpPr/>
          <p:nvPr/>
        </p:nvSpPr>
        <p:spPr>
          <a:xfrm>
            <a:off x="2374900" y="2145323"/>
            <a:ext cx="3302000" cy="4480889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4000" dirty="0"/>
              <a:t>First example</a:t>
            </a:r>
            <a:endParaRPr lang="en-US" sz="4000" b="1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8F6C30E-087B-9389-805E-18A5CC22BFCA}"/>
              </a:ext>
            </a:extLst>
          </p:cNvPr>
          <p:cNvGrpSpPr/>
          <p:nvPr/>
        </p:nvGrpSpPr>
        <p:grpSpPr>
          <a:xfrm>
            <a:off x="1258325" y="3410177"/>
            <a:ext cx="9336043" cy="2910950"/>
            <a:chOff x="1258325" y="3410177"/>
            <a:chExt cx="9336043" cy="2910950"/>
          </a:xfrm>
        </p:grpSpPr>
        <p:pic>
          <p:nvPicPr>
            <p:cNvPr id="4" name="Imagen 3" descr="Interfaz de usuario gráfica, Aplicación&#10;&#10;El contenido generado por IA puede ser incorrecto.">
              <a:extLst>
                <a:ext uri="{FF2B5EF4-FFF2-40B4-BE49-F238E27FC236}">
                  <a16:creationId xmlns:a16="http://schemas.microsoft.com/office/drawing/2014/main" id="{9ED92F97-6CD3-994B-0593-0D812D076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34"/>
            <a:stretch>
              <a:fillRect/>
            </a:stretch>
          </p:blipFill>
          <p:spPr>
            <a:xfrm>
              <a:off x="1258325" y="3652096"/>
              <a:ext cx="9336043" cy="2669031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9C3436A5-53E1-5DDE-DA00-4C4AA6CDE058}"/>
                </a:ext>
              </a:extLst>
            </p:cNvPr>
            <p:cNvSpPr/>
            <p:nvPr/>
          </p:nvSpPr>
          <p:spPr>
            <a:xfrm>
              <a:off x="2426676" y="3458665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11BC25B6-8ADE-FDE6-1063-3EC694D5B199}"/>
                </a:ext>
              </a:extLst>
            </p:cNvPr>
            <p:cNvSpPr/>
            <p:nvPr/>
          </p:nvSpPr>
          <p:spPr>
            <a:xfrm>
              <a:off x="4788876" y="3410177"/>
              <a:ext cx="574431" cy="463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1E906B8C-E878-D5D1-5FE5-C95CE46EE890}"/>
              </a:ext>
            </a:extLst>
          </p:cNvPr>
          <p:cNvSpPr txBox="1"/>
          <p:nvPr/>
        </p:nvSpPr>
        <p:spPr>
          <a:xfrm>
            <a:off x="857400" y="166505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</a:t>
            </a:r>
            <a:r>
              <a:rPr lang="en-GB" sz="2200" b="1" dirty="0" err="1"/>
              <a:t>powerCable</a:t>
            </a:r>
            <a:r>
              <a:rPr lang="en-GB" sz="2200" b="1" dirty="0"/>
              <a:t> 1 has a length of 30 m</a:t>
            </a:r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 example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8" y="2165860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930552" y="1604680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Shortcuts: IDO expressions - CFIHOS properties</a:t>
            </a:r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dirty="0"/>
              <a:t>Each </a:t>
            </a:r>
            <a:r>
              <a:rPr lang="en-US" b="1" dirty="0"/>
              <a:t>quality</a:t>
            </a:r>
            <a:r>
              <a:rPr lang="en-US" dirty="0"/>
              <a:t> in the CFIHOS ontology is annotated with the </a:t>
            </a:r>
            <a:r>
              <a:rPr lang="en-US" b="1" dirty="0"/>
              <a:t>object property </a:t>
            </a:r>
            <a:r>
              <a:rPr lang="en-US" dirty="0"/>
              <a:t>from which it </a:t>
            </a:r>
            <a:r>
              <a:rPr lang="en-US" b="1" dirty="0"/>
              <a:t>derives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Object Properties    ⇔  IDO expressions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50"/>
          <a:stretch>
            <a:fillRect/>
          </a:stretch>
        </p:blipFill>
        <p:spPr>
          <a:xfrm>
            <a:off x="6499804" y="1902392"/>
            <a:ext cx="5399119" cy="3496198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34FA79-72BB-3BB4-E497-0EF05A74F5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464"/>
          <a:stretch>
            <a:fillRect/>
          </a:stretch>
        </p:blipFill>
        <p:spPr>
          <a:xfrm>
            <a:off x="293077" y="2145329"/>
            <a:ext cx="5637823" cy="1783829"/>
          </a:xfrm>
          <a:prstGeom prst="rect">
            <a:avLst/>
          </a:prstGeom>
          <a:ln w="38100">
            <a:solidFill>
              <a:srgbClr val="7030A0"/>
            </a:solidFill>
          </a:ln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Other modeling aspects: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3B47B79-F4DB-3E43-17CD-96E7542D5CA5}"/>
              </a:ext>
            </a:extLst>
          </p:cNvPr>
          <p:cNvSpPr/>
          <p:nvPr/>
        </p:nvSpPr>
        <p:spPr>
          <a:xfrm>
            <a:off x="1732722" y="5232266"/>
            <a:ext cx="2768940" cy="453380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3367"/>
            <a:ext cx="12192000" cy="763600"/>
          </a:xfrm>
        </p:spPr>
        <p:txBody>
          <a:bodyPr>
            <a:noAutofit/>
          </a:bodyPr>
          <a:lstStyle/>
          <a:p>
            <a:r>
              <a:rPr lang="en-US" sz="3600" dirty="0"/>
              <a:t>Other modelling aspects: mappings to other standards</a:t>
            </a:r>
            <a:endParaRPr lang="en-US" sz="36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15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The common language applied to CFIHOS</a:t>
            </a:r>
            <a:endParaRPr lang="en-US" sz="4000" b="1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4E025DBB-03C4-8028-7D82-B2CB5BCA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853" y="1408235"/>
            <a:ext cx="7751787" cy="496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F5467-B11C-1874-0B66-EA55BB02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E662F11-F3F8-E701-0F29-1339B00F6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Final remarks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E4921C-1F36-0105-A715-3ABA17A0E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681913" cy="4670949"/>
          </a:xfrm>
        </p:spPr>
        <p:txBody>
          <a:bodyPr>
            <a:normAutofit fontScale="92500" lnSpcReduction="20000"/>
          </a:bodyPr>
          <a:lstStyle/>
          <a:p>
            <a:r>
              <a:rPr lang="en-US" sz="3800" dirty="0"/>
              <a:t>Development of a CFIHOS ontology based on the IDO</a:t>
            </a:r>
          </a:p>
          <a:p>
            <a:pPr marL="152396" indent="0">
              <a:buNone/>
            </a:pPr>
            <a:endParaRPr lang="en-US" sz="3800" dirty="0"/>
          </a:p>
          <a:p>
            <a:r>
              <a:rPr lang="en-US" sz="3800" dirty="0"/>
              <a:t>Need for validation from the CFIHOS community and testing in real scenarios</a:t>
            </a:r>
          </a:p>
          <a:p>
            <a:endParaRPr lang="en-US" sz="3800" dirty="0"/>
          </a:p>
          <a:p>
            <a:r>
              <a:rPr lang="en-US" sz="3800" dirty="0"/>
              <a:t>Need to clarification: Tag vs Equipment</a:t>
            </a:r>
          </a:p>
          <a:p>
            <a:endParaRPr lang="en-US" sz="3800" dirty="0"/>
          </a:p>
          <a:p>
            <a:r>
              <a:rPr lang="en-US" sz="3800" dirty="0"/>
              <a:t>Use of a modelling pattern that could be applied to other standards to promote data interoperability</a:t>
            </a:r>
          </a:p>
          <a:p>
            <a:endParaRPr lang="en-US" sz="3800" dirty="0"/>
          </a:p>
          <a:p>
            <a:endParaRPr lang="en-US" sz="45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8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E104-E044-79DE-FD54-8A31F1CDC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27460-C9AC-B3B8-AD40-11428AE45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Development of the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AEF1F5A-0367-4FE3-8555-8C1A27B99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Breis, PhD</a:t>
            </a:r>
          </a:p>
          <a:p>
            <a:r>
              <a:rPr lang="en-US" noProof="0" dirty="0"/>
              <a:t>Alexander Garcia Castro, PhD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  <p:pic>
        <p:nvPicPr>
          <p:cNvPr id="1026" name="Picture 2" descr="Nueva Identidad Visual UMU ...">
            <a:extLst>
              <a:ext uri="{FF2B5EF4-FFF2-40B4-BE49-F238E27FC236}">
                <a16:creationId xmlns:a16="http://schemas.microsoft.com/office/drawing/2014/main" id="{DFC1F77A-BE60-94D3-398B-36CBAEF07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7250" y="228600"/>
            <a:ext cx="2759319" cy="955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46468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7602</TotalTime>
  <Words>1101</Words>
  <Application>Microsoft Macintosh PowerPoint</Application>
  <PresentationFormat>Panorámica</PresentationFormat>
  <Paragraphs>280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Times New Roman</vt:lpstr>
      <vt:lpstr>Wingdings</vt:lpstr>
      <vt:lpstr>Siemens Energy</vt:lpstr>
      <vt:lpstr>Development of the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Common aspects of the standards</vt:lpstr>
      <vt:lpstr>Presentación de PowerPoint</vt:lpstr>
      <vt:lpstr>Common aspects of the standards</vt:lpstr>
      <vt:lpstr>CFIHOS distribution Version 2.0 October 2024</vt:lpstr>
      <vt:lpstr>Generation of the CFIHOS ontology</vt:lpstr>
      <vt:lpstr>CFIHOS ontology modeling principles</vt:lpstr>
      <vt:lpstr>Overview of the current CFIHOS ontology</vt:lpstr>
      <vt:lpstr>Presentación de PowerPoint</vt:lpstr>
      <vt:lpstr>Linking CFIHOS classes to the IDO</vt:lpstr>
      <vt:lpstr>Modeling properties</vt:lpstr>
      <vt:lpstr>Modeling properties</vt:lpstr>
      <vt:lpstr>IDO-based Property modeling</vt:lpstr>
      <vt:lpstr>IDO-based Property modeling</vt:lpstr>
      <vt:lpstr>First example</vt:lpstr>
      <vt:lpstr>Second example</vt:lpstr>
      <vt:lpstr>Shortcuts: IDO expressions - CFIHOS properties</vt:lpstr>
      <vt:lpstr>Object Properties    ⇔  IDO expressions</vt:lpstr>
      <vt:lpstr>Other modeling aspects: property groups</vt:lpstr>
      <vt:lpstr>Other modelling aspects: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The common language applied to CFIHOS</vt:lpstr>
      <vt:lpstr>Final remarks</vt:lpstr>
      <vt:lpstr>Development of the CFIHOS ontology 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503</cp:revision>
  <cp:lastPrinted>2020-03-11T17:11:35Z</cp:lastPrinted>
  <dcterms:created xsi:type="dcterms:W3CDTF">2020-10-26T15:38:43Z</dcterms:created>
  <dcterms:modified xsi:type="dcterms:W3CDTF">2026-03-13T12:53:04Z</dcterms:modified>
  <cp:contentStatus>Template</cp:contentStatus>
</cp:coreProperties>
</file>
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076136643" r:id="rId2"/>
    <p:sldId id="2076136468" r:id="rId3"/>
    <p:sldId id="2076136601" r:id="rId4"/>
    <p:sldId id="2076136602" r:id="rId5"/>
    <p:sldId id="2076136604" r:id="rId6"/>
    <p:sldId id="2076136469" r:id="rId7"/>
    <p:sldId id="2076136646" r:id="rId8"/>
    <p:sldId id="2076136682" r:id="rId9"/>
    <p:sldId id="2076136625" r:id="rId10"/>
    <p:sldId id="2076136683" r:id="rId11"/>
    <p:sldId id="2076136645" r:id="rId12"/>
    <p:sldId id="2076136676" r:id="rId13"/>
    <p:sldId id="2076136656" r:id="rId14"/>
    <p:sldId id="2076136654" r:id="rId15"/>
    <p:sldId id="2076136675" r:id="rId16"/>
    <p:sldId id="2076136684" r:id="rId17"/>
    <p:sldId id="2076136663" r:id="rId18"/>
    <p:sldId id="2076136664" r:id="rId19"/>
    <p:sldId id="2076136665" r:id="rId20"/>
    <p:sldId id="2076136677" r:id="rId21"/>
    <p:sldId id="2076136659" r:id="rId22"/>
    <p:sldId id="2076136680" r:id="rId23"/>
    <p:sldId id="2076136672" r:id="rId24"/>
    <p:sldId id="2076136681" r:id="rId25"/>
    <p:sldId id="2076136632" r:id="rId26"/>
    <p:sldId id="2076136633" r:id="rId27"/>
    <p:sldId id="2076136634" r:id="rId28"/>
    <p:sldId id="2076136635" r:id="rId29"/>
    <p:sldId id="2076136636" r:id="rId30"/>
    <p:sldId id="2076136637" r:id="rId31"/>
    <p:sldId id="2076136673" r:id="rId32"/>
    <p:sldId id="2076136678" r:id="rId33"/>
    <p:sldId id="2076136686" r:id="rId34"/>
    <p:sldId id="2076136685" r:id="rId35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82" autoAdjust="0"/>
    <p:restoredTop sz="95761" autoAdjust="0"/>
  </p:normalViewPr>
  <p:slideViewPr>
    <p:cSldViewPr snapToGrid="0">
      <p:cViewPr varScale="1">
        <p:scale>
          <a:sx n="173" d="100"/>
          <a:sy n="173" d="100"/>
        </p:scale>
        <p:origin x="1944" y="176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b="1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2/25/26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2/25/26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6F0A-09E7-F107-D4AA-E3EF09CB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380B-6BCA-AA18-2DCB-609E9F47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7E62-613D-1FE2-7878-06D337397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0574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38CC1-AD18-20A8-78EF-FD5405440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5DD5B-D084-8F21-F6A6-40470B8C1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40699-ABB2-340D-DA71-9A6B730E7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784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33F6-97A8-1415-9314-E0160E3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2782F0-F30D-F84A-3D20-66DB50BD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F26BF8-3705-6E54-CDBE-4CFC1527B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59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7317168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0" y="1528255"/>
            <a:ext cx="33439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data interoperability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common language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27EABF-E047-EC0B-D004-BC341F20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570" y="910708"/>
            <a:ext cx="9450754" cy="585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in the source file</a:t>
            </a:r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98694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86617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82053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CFIHOS specification and principles</a:t>
            </a:r>
          </a:p>
          <a:p>
            <a:endParaRPr lang="en-US" sz="12800" dirty="0"/>
          </a:p>
          <a:p>
            <a:r>
              <a:rPr lang="en-US" sz="12800" dirty="0"/>
              <a:t>Alignment with the “common language”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Names and descriptions of classes and properties from</a:t>
            </a:r>
          </a:p>
          <a:p>
            <a:pPr marL="152396" indent="0">
              <a:buNone/>
            </a:pPr>
            <a:r>
              <a:rPr lang="en-US" dirty="0"/>
              <a:t>       the RDL Master object</a:t>
            </a:r>
          </a:p>
          <a:p>
            <a:endParaRPr lang="en-US" dirty="0"/>
          </a:p>
          <a:p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b="1" dirty="0"/>
              <a:t>Overview of the current CFIHOS ontology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7AD58DF-C2B8-047E-557B-653E6A82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953" y="3918333"/>
            <a:ext cx="4540526" cy="2691966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E24AFE7-BF33-F298-18B3-B48AB7E4D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975" y="3044508"/>
            <a:ext cx="3620157" cy="3456842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1336583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 dirty="0"/>
              <a:t>Linking CFIHOS classes to the IDO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DA56615-0E56-49CE-339D-4BCB1298C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2154" y="1593684"/>
            <a:ext cx="4961978" cy="1017711"/>
          </a:xfrm>
        </p:spPr>
        <p:txBody>
          <a:bodyPr>
            <a:normAutofit fontScale="25000" lnSpcReduction="20000"/>
          </a:bodyPr>
          <a:lstStyle/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endParaRPr lang="en-US" sz="7200" dirty="0"/>
          </a:p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5657C09B-94F0-64AA-B09F-C9C7EB564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511" y="1708080"/>
            <a:ext cx="4581135" cy="4374468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1507966" y="1939752"/>
            <a:ext cx="1777473" cy="20386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1507966" y="2264559"/>
            <a:ext cx="2458255" cy="19654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1507966" y="2629685"/>
            <a:ext cx="191483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1507967" y="4290939"/>
            <a:ext cx="173626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1370604" y="4654720"/>
            <a:ext cx="1914836" cy="73789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Linking CFIHOS classes to the IDO</a:t>
            </a:r>
            <a:endParaRPr lang="en-US" sz="28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621D6A1-71B5-115B-4284-FC525D861F4D}"/>
              </a:ext>
            </a:extLst>
          </p:cNvPr>
          <p:cNvSpPr/>
          <p:nvPr/>
        </p:nvSpPr>
        <p:spPr>
          <a:xfrm>
            <a:off x="1507966" y="5616894"/>
            <a:ext cx="2899908" cy="34471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EFFB-BA1F-789B-2ABD-2239F0ADB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E3E9A8-2411-183B-C17C-7E3C20BC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04F251-1723-ECF5-871E-FC900051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8" y="1627553"/>
            <a:ext cx="6255727" cy="375096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B7BA75B-1254-ABBF-6E00-CFCBB044C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542" y="1600200"/>
            <a:ext cx="584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143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9554751" cy="1929387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052158E-C414-F0D3-4C1F-D10B59DEDF58}"/>
              </a:ext>
            </a:extLst>
          </p:cNvPr>
          <p:cNvSpPr/>
          <p:nvPr/>
        </p:nvSpPr>
        <p:spPr>
          <a:xfrm>
            <a:off x="2374900" y="4068816"/>
            <a:ext cx="3302000" cy="2065284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17E1EB-A0C3-4519-92D4-F96057C1416C}"/>
              </a:ext>
            </a:extLst>
          </p:cNvPr>
          <p:cNvSpPr/>
          <p:nvPr/>
        </p:nvSpPr>
        <p:spPr>
          <a:xfrm>
            <a:off x="2374900" y="2145323"/>
            <a:ext cx="3302000" cy="4480889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First example</a:t>
            </a:r>
            <a:endParaRPr lang="en-US" sz="4000" b="1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F6C30E-087B-9389-805E-18A5CC22BFCA}"/>
              </a:ext>
            </a:extLst>
          </p:cNvPr>
          <p:cNvGrpSpPr/>
          <p:nvPr/>
        </p:nvGrpSpPr>
        <p:grpSpPr>
          <a:xfrm>
            <a:off x="1258325" y="3410177"/>
            <a:ext cx="9336043" cy="2910950"/>
            <a:chOff x="1258325" y="3410177"/>
            <a:chExt cx="9336043" cy="2910950"/>
          </a:xfrm>
        </p:grpSpPr>
        <p:pic>
          <p:nvPicPr>
            <p:cNvPr id="4" name="Imagen 3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9ED92F97-6CD3-994B-0593-0D812D076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34"/>
            <a:stretch>
              <a:fillRect/>
            </a:stretch>
          </p:blipFill>
          <p:spPr>
            <a:xfrm>
              <a:off x="1258325" y="3652096"/>
              <a:ext cx="9336043" cy="2669031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9C3436A5-53E1-5DDE-DA00-4C4AA6CDE058}"/>
                </a:ext>
              </a:extLst>
            </p:cNvPr>
            <p:cNvSpPr/>
            <p:nvPr/>
          </p:nvSpPr>
          <p:spPr>
            <a:xfrm>
              <a:off x="2426676" y="3458665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1BC25B6-8ADE-FDE6-1063-3EC694D5B199}"/>
                </a:ext>
              </a:extLst>
            </p:cNvPr>
            <p:cNvSpPr/>
            <p:nvPr/>
          </p:nvSpPr>
          <p:spPr>
            <a:xfrm>
              <a:off x="4788876" y="3410177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1E906B8C-E878-D5D1-5FE5-C95CE46EE890}"/>
              </a:ext>
            </a:extLst>
          </p:cNvPr>
          <p:cNvSpPr txBox="1"/>
          <p:nvPr/>
        </p:nvSpPr>
        <p:spPr>
          <a:xfrm>
            <a:off x="857400" y="166505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</a:t>
            </a:r>
            <a:r>
              <a:rPr lang="en-GB" sz="2200" b="1" dirty="0" err="1"/>
              <a:t>powerCable</a:t>
            </a:r>
            <a:r>
              <a:rPr lang="en-GB" sz="2200" b="1" dirty="0"/>
              <a:t> 1 has a length of 30 m</a:t>
            </a:r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 example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8" y="2165860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930552" y="1604680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Shortcuts: IDO expressions - CFIHOS properties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dirty="0"/>
              <a:t>Each </a:t>
            </a:r>
            <a:r>
              <a:rPr lang="en-US" b="1" dirty="0"/>
              <a:t>quality</a:t>
            </a:r>
            <a:r>
              <a:rPr lang="en-US" dirty="0"/>
              <a:t> in the CFIHOS ontology is annotated with the </a:t>
            </a:r>
            <a:r>
              <a:rPr lang="en-US" b="1" dirty="0"/>
              <a:t>object property </a:t>
            </a:r>
            <a:r>
              <a:rPr lang="en-US" dirty="0"/>
              <a:t>from which it </a:t>
            </a:r>
            <a:r>
              <a:rPr lang="en-US" b="1" dirty="0"/>
              <a:t>derives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Object Properties    ⇔  IDO expressions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50"/>
          <a:stretch>
            <a:fillRect/>
          </a:stretch>
        </p:blipFill>
        <p:spPr>
          <a:xfrm>
            <a:off x="6499804" y="1902392"/>
            <a:ext cx="5399119" cy="3496198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34FA79-72BB-3BB4-E497-0EF05A74F5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464"/>
          <a:stretch>
            <a:fillRect/>
          </a:stretch>
        </p:blipFill>
        <p:spPr>
          <a:xfrm>
            <a:off x="293077" y="2145329"/>
            <a:ext cx="5637823" cy="1783829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Other modeling aspects: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3B47B79-F4DB-3E43-17CD-96E7542D5CA5}"/>
              </a:ext>
            </a:extLst>
          </p:cNvPr>
          <p:cNvSpPr/>
          <p:nvPr/>
        </p:nvSpPr>
        <p:spPr>
          <a:xfrm>
            <a:off x="1732722" y="5232266"/>
            <a:ext cx="2768940" cy="453380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3367"/>
            <a:ext cx="12192000" cy="763600"/>
          </a:xfrm>
        </p:spPr>
        <p:txBody>
          <a:bodyPr>
            <a:noAutofit/>
          </a:bodyPr>
          <a:lstStyle/>
          <a:p>
            <a:r>
              <a:rPr lang="en-US" sz="3600" dirty="0"/>
              <a:t>Other modelling aspects: mappings to other standards</a:t>
            </a:r>
            <a:endParaRPr lang="en-US"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15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The common language applied to CFIHOS</a:t>
            </a:r>
            <a:endParaRPr lang="en-US" sz="4000" b="1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4E025DBB-03C4-8028-7D82-B2CB5BCA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853" y="1408235"/>
            <a:ext cx="7751787" cy="49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5467-B11C-1874-0B66-EA55BB02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E662F11-F3F8-E701-0F29-1339B00F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Final remarks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E4921C-1F36-0105-A715-3ABA17A0E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681913" cy="4670949"/>
          </a:xfrm>
        </p:spPr>
        <p:txBody>
          <a:bodyPr>
            <a:normAutofit fontScale="92500" lnSpcReduction="20000"/>
          </a:bodyPr>
          <a:lstStyle/>
          <a:p>
            <a:r>
              <a:rPr lang="en-US" sz="3800" dirty="0"/>
              <a:t>Development of a CFIHOS ontology based on the IDO</a:t>
            </a:r>
          </a:p>
          <a:p>
            <a:pPr marL="152396" indent="0">
              <a:buNone/>
            </a:pPr>
            <a:endParaRPr lang="en-US" sz="3800" dirty="0"/>
          </a:p>
          <a:p>
            <a:r>
              <a:rPr lang="en-US" sz="3800" dirty="0"/>
              <a:t>Need for validation from the CFIHOS community and testing in real scenarios</a:t>
            </a:r>
          </a:p>
          <a:p>
            <a:endParaRPr lang="en-US" sz="3800" dirty="0"/>
          </a:p>
          <a:p>
            <a:r>
              <a:rPr lang="en-US" sz="3800" dirty="0"/>
              <a:t>Need to clarification: Tag vs Equipment</a:t>
            </a:r>
          </a:p>
          <a:p>
            <a:endParaRPr lang="en-US" sz="3800" dirty="0"/>
          </a:p>
          <a:p>
            <a:r>
              <a:rPr lang="en-US" sz="3800" dirty="0"/>
              <a:t>Use of a modelling pattern that could be applied to other standards to promote data interoperability</a:t>
            </a:r>
          </a:p>
          <a:p>
            <a:endParaRPr lang="en-US" sz="3800" dirty="0"/>
          </a:p>
          <a:p>
            <a:endParaRPr lang="en-US" sz="45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8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E104-E044-79DE-FD54-8A31F1CDC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27460-C9AC-B3B8-AD40-11428AE45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AEF1F5A-0367-4FE3-8555-8C1A27B9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DFC1F77A-BE60-94D3-398B-36CBAEF07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46468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7553</TotalTime>
  <Words>1100</Words>
  <Application>Microsoft Macintosh PowerPoint</Application>
  <PresentationFormat>Panorámica</PresentationFormat>
  <Paragraphs>280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Generation of the CFIHOS ontology</vt:lpstr>
      <vt:lpstr>CFIHOS ontology modeling principles</vt:lpstr>
      <vt:lpstr>Overview of the current CFIHOS ontology</vt:lpstr>
      <vt:lpstr>Presentación de PowerPoint</vt:lpstr>
      <vt:lpstr>Linking CFIHOS classes to the IDO</vt:lpstr>
      <vt:lpstr>Modeling properties</vt:lpstr>
      <vt:lpstr>Modeling properties</vt:lpstr>
      <vt:lpstr>IDO-based Property modeling</vt:lpstr>
      <vt:lpstr>IDO-based Property modeling</vt:lpstr>
      <vt:lpstr>First example</vt:lpstr>
      <vt:lpstr>Second example</vt:lpstr>
      <vt:lpstr>Shortcuts: IDO expressions - CFIHOS properties</vt:lpstr>
      <vt:lpstr>Object Properties    ⇔  IDO expressions</vt:lpstr>
      <vt:lpstr>Other modeling aspects: property groups</vt:lpstr>
      <vt:lpstr>Other modelling aspects: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The common language applied to CFIHOS</vt:lpstr>
      <vt:lpstr>Final remarks</vt:lpstr>
      <vt:lpstr>Development of the CFIHOS ontology 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499</cp:revision>
  <cp:lastPrinted>2020-03-11T17:11:35Z</cp:lastPrinted>
  <dcterms:created xsi:type="dcterms:W3CDTF">2020-10-26T15:38:43Z</dcterms:created>
  <dcterms:modified xsi:type="dcterms:W3CDTF">2026-02-25T15:02:18Z</dcterms:modified>
  <cp:contentStatus>Template</cp:contentStatus>
</cp:coreProperties>
</file>
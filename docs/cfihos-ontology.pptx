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7BBF54C6_C72A45A5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076136643" r:id="rId2"/>
    <p:sldId id="2076136468" r:id="rId3"/>
    <p:sldId id="2076136601" r:id="rId4"/>
    <p:sldId id="2076136602" r:id="rId5"/>
    <p:sldId id="2076136605" r:id="rId6"/>
    <p:sldId id="2076136604" r:id="rId7"/>
    <p:sldId id="2076136469" r:id="rId8"/>
    <p:sldId id="2076136646" r:id="rId9"/>
    <p:sldId id="2076136682" r:id="rId10"/>
    <p:sldId id="2076136625" r:id="rId11"/>
    <p:sldId id="2076136645" r:id="rId12"/>
    <p:sldId id="2076136683" r:id="rId13"/>
    <p:sldId id="2076136676" r:id="rId14"/>
    <p:sldId id="2076136653" r:id="rId15"/>
    <p:sldId id="2076136656" r:id="rId16"/>
    <p:sldId id="2076136655" r:id="rId17"/>
    <p:sldId id="2076136654" r:id="rId18"/>
    <p:sldId id="2076136675" r:id="rId19"/>
    <p:sldId id="2076136663" r:id="rId20"/>
    <p:sldId id="2076136664" r:id="rId21"/>
    <p:sldId id="2076136665" r:id="rId22"/>
    <p:sldId id="2076136677" r:id="rId23"/>
    <p:sldId id="2076136659" r:id="rId24"/>
    <p:sldId id="2076136679" r:id="rId25"/>
    <p:sldId id="2076136680" r:id="rId26"/>
    <p:sldId id="2076136672" r:id="rId27"/>
    <p:sldId id="2076136681" r:id="rId28"/>
    <p:sldId id="2076136632" r:id="rId29"/>
    <p:sldId id="2076136633" r:id="rId30"/>
    <p:sldId id="2076136634" r:id="rId31"/>
    <p:sldId id="2076136635" r:id="rId32"/>
    <p:sldId id="2076136636" r:id="rId33"/>
    <p:sldId id="2076136637" r:id="rId34"/>
    <p:sldId id="2076136673" r:id="rId35"/>
    <p:sldId id="2076136678" r:id="rId36"/>
    <p:sldId id="2076136644" r:id="rId37"/>
    <p:sldId id="2076136657" r:id="rId38"/>
    <p:sldId id="2076136658" r:id="rId39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20" autoAdjust="0"/>
    <p:restoredTop sz="95761" autoAdjust="0"/>
  </p:normalViewPr>
  <p:slideViewPr>
    <p:cSldViewPr snapToGrid="0">
      <p:cViewPr varScale="1">
        <p:scale>
          <a:sx n="96" d="100"/>
          <a:sy n="96" d="100"/>
        </p:scale>
        <p:origin x="192" y="448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comments/modernComment_7BBF54C6_C72A4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A198C-BC8F-D440-80AA-AB36535885AC}" authorId="{CFC94317-0DDF-5F08-C115-2646DBDC704D}" created="2026-02-22T13:57:46.29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41436325" sldId="2076136646"/>
      <ac:picMk id="7" creationId="{C6F73B8C-0EB4-51B9-41EF-F50357360354}"/>
    </ac:deMkLst>
    <p188:txBody>
      <a:bodyPr/>
      <a:lstStyle/>
      <a:p>
        <a:r>
          <a:rPr lang="en-GB"/>
          <a:t>Cambiar para evitar CDM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2/22/26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2/22/26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CD17-8D2A-3577-3602-42EF470D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3DE2E75-4212-682B-7929-EECAC4739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3F6B17-F79C-B03A-B134-955E32E3C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292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EDA40-4422-6F1E-3EC3-BFB4E95A2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F9320-0543-9F4D-B1CE-EE85BAF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638AC8-7F58-4F32-8D39-235CDA9B3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77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B777-1C9F-650A-AB8F-20730DC72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594F93-7848-87BA-7AF4-768B76905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F6CA5-8660-1197-B457-300FA395B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6011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B081F-D34E-941F-82BB-63EA3D65E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CD51F-F057-842B-3A48-54F200421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9B38E-C6F5-3591-CD74-088FF7E84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3958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4565B-3BA2-DA0B-66F5-3C575B2E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47737C-78A8-8B65-C4E5-D9BDFF59B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AF2F5DE-37DB-2B59-7523-27783450E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8111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EC542-6B3A-F1E6-2935-5752B7FC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80D78-DA3A-F4F1-9626-F86EEB1AE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7E967-D652-EA62-C601-ABDBF60A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576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DE24-615D-1EA4-B17C-CBCE32FE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3F7B-5A87-0B4C-AE1E-2B3912C53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B5D49-3D87-9533-BBB1-AA735668F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04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BBF54C6_C72A45A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5696286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1E13-23D3-282F-62FC-948BBC137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2F760F-B5BE-C12A-241C-459A315D9CC6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9937A6C-0AEC-61D4-FC7C-34D1328E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299D942D-C213-E91B-613D-EBA22C9BD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B22B0B26-BCCA-BB24-37A8-28048F25C0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953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103854" y="994855"/>
            <a:ext cx="4259801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a shared understanding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harmonization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harmonized representation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C6F73B8C-0EB4-51B9-41EF-F50357360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7529" y="1325590"/>
            <a:ext cx="8176942" cy="506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CFHIOS principles</a:t>
            </a:r>
          </a:p>
          <a:p>
            <a:endParaRPr lang="en-US" sz="12800" dirty="0"/>
          </a:p>
          <a:p>
            <a:r>
              <a:rPr lang="en-US" sz="12800" dirty="0"/>
              <a:t>Alignment with the previous </a:t>
            </a:r>
            <a:r>
              <a:rPr lang="en-US" sz="12800" dirty="0" err="1"/>
              <a:t>commmon</a:t>
            </a:r>
            <a:r>
              <a:rPr lang="en-US" sz="12800" dirty="0"/>
              <a:t> pattern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</a:t>
            </a:r>
            <a:r>
              <a:rPr lang="en-US" sz="11200"/>
              <a:t>in the source file</a:t>
            </a:r>
            <a:endParaRPr lang="en-US" sz="11200" dirty="0"/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220256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099486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053846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nterfaz de usuario gráfica, Texto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3E41B169-0456-0C0B-ABC0-B3D0CF00E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4311" y="4443178"/>
            <a:ext cx="2438740" cy="13622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2</a:t>
            </a:r>
            <a:endParaRPr lang="en-US" sz="4000" b="1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28C6AFA7-58F1-AE94-476E-56D8C5EC6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68" y="3504150"/>
            <a:ext cx="7200900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BA4EE7-31E3-FBEF-7BB5-265560BF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BD7D6F28-E12F-DBAA-4F25-3246168D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F9E67BA-EF04-9763-A427-6A1230F54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548" y="3355504"/>
            <a:ext cx="5832904" cy="320768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E21AD62-B84E-8A1C-601D-063F645B61A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7500" lnSpcReduction="200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/>
              <a:t>CFIHOS Ontology Approach 2: Linking CFIHOS classes to the IDO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29804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347" y="1524152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7500" lnSpcReduction="200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/>
              <a:t>CFIHOS Ontology Approach 2: Linking CFIHOS classes to the IDO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3B051E-5E05-3808-6835-885E54580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46A08BA4-11DB-2B70-E5AC-AF942242E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/>
          </a:bodyPr>
          <a:lstStyle/>
          <a:p>
            <a:r>
              <a:rPr lang="en-US" dirty="0"/>
              <a:t>The main classes of the CFIHOS ontology have been linked to the Industrial Data Ontology</a:t>
            </a:r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7DAACED-6FF2-081D-EE86-5ACD56F55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596" y="2419007"/>
            <a:ext cx="5651500" cy="41783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542E768-70B5-2DD1-59DC-8A3A40044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Linking CFIHOS classes to the IDO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049174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483A0497-BD31-A95E-D3F1-2A7BF128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/>
          </a:bodyPr>
          <a:lstStyle/>
          <a:p>
            <a:r>
              <a:rPr lang="en-US" dirty="0"/>
              <a:t>The main classes of the CFIHOS ontology have been linked to the Industrial Data Ontology</a:t>
            </a:r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29A4B2D-E01D-4667-F645-8402219A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596" y="2419007"/>
            <a:ext cx="5651500" cy="417830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2067697" y="2657048"/>
            <a:ext cx="1570025" cy="19106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2067696" y="3040500"/>
            <a:ext cx="2295582" cy="19106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2067696" y="3436718"/>
            <a:ext cx="1748930" cy="18971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2067696" y="4875154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2067695" y="5264316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7E9010F-806E-A1E5-F516-1921A1B2D2CF}"/>
              </a:ext>
            </a:extLst>
          </p:cNvPr>
          <p:cNvSpPr/>
          <p:nvPr/>
        </p:nvSpPr>
        <p:spPr>
          <a:xfrm>
            <a:off x="2067695" y="5647768"/>
            <a:ext cx="536358" cy="28942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5B45494-1670-D6A7-6807-B10C020F34DF}"/>
              </a:ext>
            </a:extLst>
          </p:cNvPr>
          <p:cNvSpPr/>
          <p:nvPr/>
        </p:nvSpPr>
        <p:spPr>
          <a:xfrm>
            <a:off x="2067694" y="6083929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Linking CFIHOS classes to the IDO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CFIHOS Ontology Approach 2: properties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5127475" cy="1929387"/>
          </a:xfrm>
        </p:spPr>
        <p:txBody>
          <a:bodyPr>
            <a:normAutofit fontScale="475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pic>
        <p:nvPicPr>
          <p:cNvPr id="5" name="Imagen 4" descr="Interfaz de usuario gráfica, Aplicación, Sitio web&#10;&#10;El contenido generado por IA puede ser incorrecto.">
            <a:extLst>
              <a:ext uri="{FF2B5EF4-FFF2-40B4-BE49-F238E27FC236}">
                <a16:creationId xmlns:a16="http://schemas.microsoft.com/office/drawing/2014/main" id="{0CDE0F40-65F1-A02B-2CDC-58C5B969B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57" y="1639667"/>
            <a:ext cx="2534004" cy="514422"/>
          </a:xfrm>
          <a:prstGeom prst="rect">
            <a:avLst/>
          </a:prstGeom>
        </p:spPr>
      </p:pic>
      <p:pic>
        <p:nvPicPr>
          <p:cNvPr id="7" name="Imagen 6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2D2EEA3B-4F22-2FB2-E60E-B693116BB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3414" y="1639667"/>
            <a:ext cx="2743583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3E77BD5-5426-6469-8DFA-D614969B7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347" y="1593685"/>
            <a:ext cx="5127475" cy="1149516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Example of instances modelling the length of a cable</a:t>
            </a:r>
          </a:p>
          <a:p>
            <a:endParaRPr lang="en-US" dirty="0"/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9ED92F97-6CD3-994B-0593-0D812D0763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34"/>
          <a:stretch>
            <a:fillRect/>
          </a:stretch>
        </p:blipFill>
        <p:spPr>
          <a:xfrm>
            <a:off x="1258325" y="3652096"/>
            <a:ext cx="9336043" cy="2669031"/>
          </a:xfrm>
          <a:prstGeom prst="rect">
            <a:avLst/>
          </a:prstGeom>
        </p:spPr>
      </p:pic>
      <p:pic>
        <p:nvPicPr>
          <p:cNvPr id="5" name="Imagen 4" descr="Interfaz de usuario gráfica, Aplicación, Sitio web&#10;&#10;El contenido generado por IA puede ser incorrecto.">
            <a:extLst>
              <a:ext uri="{FF2B5EF4-FFF2-40B4-BE49-F238E27FC236}">
                <a16:creationId xmlns:a16="http://schemas.microsoft.com/office/drawing/2014/main" id="{86241720-D3A5-B854-29F6-FF50C4850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356967"/>
            <a:ext cx="2534004" cy="514422"/>
          </a:xfrm>
          <a:prstGeom prst="rect">
            <a:avLst/>
          </a:prstGeom>
        </p:spPr>
      </p:pic>
      <p:pic>
        <p:nvPicPr>
          <p:cNvPr id="8" name="Imagen 7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AAB56E2C-685C-CD06-B059-E14A47ED8B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857" y="1356967"/>
            <a:ext cx="2743583" cy="155279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Example of data representation – Approach 2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9" y="1356967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1523969" y="583393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Shortcuts: IDO expression vs CFHIOS properties</a:t>
            </a:r>
          </a:p>
          <a:p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FDB57-23F6-AC85-2C0C-C20D44E7B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C3FB49D-E8E9-8A66-F4DE-D9FBF782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E6B5DF48-83E4-CC42-9DAC-5BBE49800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Conversion to IDO expressions</a:t>
            </a:r>
          </a:p>
          <a:p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C127A3C-9EA1-D7C2-3C92-2B2B6135F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49" y="2254250"/>
            <a:ext cx="11386305" cy="37020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AEFC878-0091-86B4-0D54-547FDCE8BD61}"/>
              </a:ext>
            </a:extLst>
          </p:cNvPr>
          <p:cNvSpPr/>
          <p:nvPr/>
        </p:nvSpPr>
        <p:spPr>
          <a:xfrm>
            <a:off x="10875108" y="4955608"/>
            <a:ext cx="1023815" cy="617415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959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FD70B4FC-0F98-7829-EFAA-FABA28AC5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Conversion to IDO expressions</a:t>
            </a:r>
          </a:p>
          <a:p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A772709-7486-A6C8-1609-AACDAB634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49" y="2254250"/>
            <a:ext cx="11386305" cy="37020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B96C7B06-F7AA-7FE5-DE62-AD76E4D65240}"/>
              </a:ext>
            </a:extLst>
          </p:cNvPr>
          <p:cNvSpPr/>
          <p:nvPr/>
        </p:nvSpPr>
        <p:spPr>
          <a:xfrm>
            <a:off x="10875108" y="4955608"/>
            <a:ext cx="1023815" cy="617415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881" y="2254250"/>
            <a:ext cx="5399119" cy="4670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CFIHOS Ontology Approach 2: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CFIHOS Ontology Approach 2: mappings to other standards</a:t>
            </a:r>
            <a:endParaRPr lang="en-US" sz="28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14+1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Next steps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6C622C0E-A0BE-21D8-09E0-E28137FBD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0638223" cy="4670949"/>
          </a:xfrm>
        </p:spPr>
        <p:txBody>
          <a:bodyPr>
            <a:normAutofit fontScale="47500" lnSpcReduction="20000"/>
          </a:bodyPr>
          <a:lstStyle/>
          <a:p>
            <a:r>
              <a:rPr lang="en-US" sz="4500" dirty="0"/>
              <a:t>Not modelled sheets</a:t>
            </a:r>
          </a:p>
          <a:p>
            <a:pPr lvl="1"/>
            <a:r>
              <a:rPr lang="en-US" sz="4500" b="1" dirty="0"/>
              <a:t>handover event</a:t>
            </a:r>
            <a:r>
              <a:rPr lang="en-US" sz="4500" dirty="0"/>
              <a:t>: five types of project milestone. Worthy?</a:t>
            </a:r>
          </a:p>
          <a:p>
            <a:pPr lvl="1"/>
            <a:r>
              <a:rPr lang="en-US" sz="4500" b="1" dirty="0"/>
              <a:t>Jip33 info required spec</a:t>
            </a:r>
            <a:r>
              <a:rPr lang="en-US" sz="4500" dirty="0"/>
              <a:t>: documents that define the information required for procuring equipment in the oil and gas industry. Needed in the ontology?</a:t>
            </a:r>
          </a:p>
          <a:p>
            <a:pPr lvl="1"/>
            <a:r>
              <a:rPr lang="en-US" sz="4500" b="1" dirty="0"/>
              <a:t>Data dictionary</a:t>
            </a:r>
            <a:r>
              <a:rPr lang="en-US" sz="4500" dirty="0"/>
              <a:t>: definitions of classes and properties with format for properties. Maybe of interest for data validation (shapes)</a:t>
            </a:r>
          </a:p>
          <a:p>
            <a:pPr marL="152396" indent="0">
              <a:buNone/>
            </a:pPr>
            <a:endParaRPr lang="en-US" sz="4500" dirty="0"/>
          </a:p>
          <a:p>
            <a:r>
              <a:rPr lang="en-US" sz="4500" dirty="0"/>
              <a:t>Tag vs equipment</a:t>
            </a:r>
          </a:p>
          <a:p>
            <a:endParaRPr lang="en-US" sz="4500" dirty="0"/>
          </a:p>
          <a:p>
            <a:r>
              <a:rPr lang="en-US" sz="4500" dirty="0"/>
              <a:t>Share the ontology with the CFIHOS community and the W3C community group  (https://www.w3.org/groups/cg/</a:t>
            </a:r>
            <a:r>
              <a:rPr lang="en-US" sz="4500" dirty="0" err="1"/>
              <a:t>oki</a:t>
            </a:r>
            <a:r>
              <a:rPr lang="en-US" sz="4500" dirty="0"/>
              <a:t>/)</a:t>
            </a:r>
          </a:p>
          <a:p>
            <a:pPr lvl="1"/>
            <a:endParaRPr lang="en-US" sz="4500" dirty="0"/>
          </a:p>
          <a:p>
            <a:endParaRPr lang="en-US" sz="4500" dirty="0"/>
          </a:p>
          <a:p>
            <a:r>
              <a:rPr lang="en-US" sz="4500" dirty="0"/>
              <a:t>Alignment with CDM and other standards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EC1DC-559E-C706-CC9D-263B1A7F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85E1A-2B75-8383-9FCD-41293F4EC1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321023" cy="3114000"/>
          </a:xfrm>
        </p:spPr>
        <p:txBody>
          <a:bodyPr/>
          <a:lstStyle/>
          <a:p>
            <a:r>
              <a:rPr lang="en-US" dirty="0"/>
              <a:t>Towards the harmonization of industrial standards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Development of CFIHOS ontology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6B4D31F-F005-9F66-B8E9-E2C5D9CF0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426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10E3A-6C83-8613-BB5C-0B2CB9AF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56D23A3-1B5D-B902-5E74-58819AFFA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99" y="593367"/>
            <a:ext cx="5047651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Overview of the CDM</a:t>
            </a:r>
            <a:endParaRPr lang="en-US" sz="4000" b="1" dirty="0"/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F28C3650-4478-3C59-9BB5-B47210A988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B936234-5358-BE15-86B3-15301D09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811" y="1227560"/>
            <a:ext cx="9630378" cy="548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6770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7D5F-204C-8AD6-50BC-1DD858A1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60FC94B-7A51-B957-B1EC-C5BE4FF28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3843884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Alignment with CDM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7DADE3-E651-4AF7-3707-BFBEDFEBF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919" y="0"/>
            <a:ext cx="56991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9597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7365</TotalTime>
  <Words>1309</Words>
  <Application>Microsoft Macintosh PowerPoint</Application>
  <PresentationFormat>Panorámica</PresentationFormat>
  <Paragraphs>327</Paragraphs>
  <Slides>38</Slides>
  <Notes>38</Notes>
  <HiddenSlides>7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2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CFIHOS ontology modeling principles</vt:lpstr>
      <vt:lpstr>Generation of the ontology</vt:lpstr>
      <vt:lpstr>CFIHOS Ontology Approach 2</vt:lpstr>
      <vt:lpstr>Presentación de PowerPoint</vt:lpstr>
      <vt:lpstr>Presentación de PowerPoint</vt:lpstr>
      <vt:lpstr>CFIHOS Ontology Approach 2: Linking CFIHOS classes to the IDO</vt:lpstr>
      <vt:lpstr>CFIHOS Ontology Approach 2: Linking CFIHOS classes to the IDO</vt:lpstr>
      <vt:lpstr>CFIHOS Ontology Approach 2: properties</vt:lpstr>
      <vt:lpstr>CFIHOS Ontology Approach 2: IDO-based Property modeling</vt:lpstr>
      <vt:lpstr>CFIHOS Ontology Approach 2: IDO-based Property modeling</vt:lpstr>
      <vt:lpstr>CFIHOS Ontology Approach 2: IDO-based Property modeling</vt:lpstr>
      <vt:lpstr>Example of data representation – Approach 2</vt:lpstr>
      <vt:lpstr>Secondary result</vt:lpstr>
      <vt:lpstr>Secondary result</vt:lpstr>
      <vt:lpstr>Secondary result</vt:lpstr>
      <vt:lpstr>CFIHOS Ontology Approach 2: property groups</vt:lpstr>
      <vt:lpstr>CFIHOS Ontology Approach 2: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Next steps</vt:lpstr>
      <vt:lpstr>Towards the harmonization of industrial standards  Development of CFIHOS ontology</vt:lpstr>
      <vt:lpstr>Overview of the CDM</vt:lpstr>
      <vt:lpstr>Alignment with CDM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436</cp:revision>
  <cp:lastPrinted>2020-03-11T17:11:35Z</cp:lastPrinted>
  <dcterms:created xsi:type="dcterms:W3CDTF">2020-10-26T15:38:43Z</dcterms:created>
  <dcterms:modified xsi:type="dcterms:W3CDTF">2026-02-22T19:35:01Z</dcterms:modified>
  <cp:contentStatus>Template</cp:contentStatus>
</cp:coreProperties>
</file>